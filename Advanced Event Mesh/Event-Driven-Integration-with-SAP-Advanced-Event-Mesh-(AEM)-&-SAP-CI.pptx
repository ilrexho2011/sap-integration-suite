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144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72F16-E28F-4D2F-FCED-C58494D07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E873F-8ADF-8F01-E0F7-FD43CFD3A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58B12-DACC-DB71-067A-B2DFDD267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17F7A-FDF9-47B1-B3E6-8096D763E9D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70358-4F60-E68C-3D86-961FCE25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100EB-C74F-EA14-0CD6-C83828178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D97F2-EF1A-4DD0-BEBA-04EF9AAE9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63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09C8B5-8EDA-355B-1ABB-D8D562788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496ED-2BBD-C73E-A3F3-40090C712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3F538-709C-A823-D964-8D932F0312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917F7A-FDF9-47B1-B3E6-8096D763E9D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7EEC9-E3D3-F8AD-FF2C-63BA6362F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F1D61-A2E2-F328-2DCA-79ACB81A5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D97F2-EF1A-4DD0-BEBA-04EF9AAE9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31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2CFDB-2605-6045-DBE1-8E96FE88F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D7BE89-02D3-89B8-EAFA-ACCCA15B623E}"/>
              </a:ext>
            </a:extLst>
          </p:cNvPr>
          <p:cNvSpPr/>
          <p:nvPr/>
        </p:nvSpPr>
        <p:spPr>
          <a:xfrm>
            <a:off x="500743" y="1021278"/>
            <a:ext cx="11190514" cy="1555668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49E950-57C3-4E1E-7A9C-2C4D52972E11}"/>
              </a:ext>
            </a:extLst>
          </p:cNvPr>
          <p:cNvSpPr/>
          <p:nvPr/>
        </p:nvSpPr>
        <p:spPr>
          <a:xfrm>
            <a:off x="500743" y="2793670"/>
            <a:ext cx="11190514" cy="1555668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83AC83-E354-FB0F-53EB-E59F544C8020}"/>
              </a:ext>
            </a:extLst>
          </p:cNvPr>
          <p:cNvSpPr/>
          <p:nvPr/>
        </p:nvSpPr>
        <p:spPr>
          <a:xfrm>
            <a:off x="500743" y="4566062"/>
            <a:ext cx="11190514" cy="1555668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59721FA-A305-F861-A051-E8942CD419C5}"/>
              </a:ext>
            </a:extLst>
          </p:cNvPr>
          <p:cNvSpPr/>
          <p:nvPr/>
        </p:nvSpPr>
        <p:spPr>
          <a:xfrm>
            <a:off x="4486893" y="3001488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E97132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AEM Broker (Topic Exchange)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35EFCF-A82B-162D-DA6B-2787B51354D1}"/>
              </a:ext>
            </a:extLst>
          </p:cNvPr>
          <p:cNvSpPr txBox="1"/>
          <p:nvPr/>
        </p:nvSpPr>
        <p:spPr>
          <a:xfrm>
            <a:off x="500743" y="463138"/>
            <a:ext cx="8254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Event-Driven Integration </a:t>
            </a:r>
            <a:r>
              <a:rPr lang="en-US" sz="2000" dirty="0"/>
              <a:t>with SAP Advanced Event Mesh (</a:t>
            </a:r>
            <a:r>
              <a:rPr lang="en-US" sz="2000" b="1" dirty="0"/>
              <a:t>AEM</a:t>
            </a:r>
            <a:r>
              <a:rPr lang="en-US" sz="2000" dirty="0"/>
              <a:t>) &amp; </a:t>
            </a:r>
            <a:r>
              <a:rPr lang="en-US" sz="2000" b="1" dirty="0"/>
              <a:t>SAP CI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D869DA1-03D6-CF56-7619-2F90E5677B64}"/>
              </a:ext>
            </a:extLst>
          </p:cNvPr>
          <p:cNvSpPr/>
          <p:nvPr/>
        </p:nvSpPr>
        <p:spPr>
          <a:xfrm>
            <a:off x="8191994" y="3001488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5DBBE5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SAP</a:t>
            </a:r>
            <a:r>
              <a:rPr lang="en-US" dirty="0">
                <a:solidFill>
                  <a:srgbClr val="002060"/>
                </a:solidFill>
              </a:rPr>
              <a:t> Cloud Integration (</a:t>
            </a:r>
            <a:r>
              <a:rPr lang="en-US" b="1" dirty="0">
                <a:solidFill>
                  <a:srgbClr val="002060"/>
                </a:solidFill>
              </a:rPr>
              <a:t>CPI</a:t>
            </a:r>
            <a:r>
              <a:rPr lang="en-US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E4EFB2-B270-5A05-B80C-983F72F0156D}"/>
              </a:ext>
            </a:extLst>
          </p:cNvPr>
          <p:cNvSpPr/>
          <p:nvPr/>
        </p:nvSpPr>
        <p:spPr>
          <a:xfrm>
            <a:off x="8191994" y="4773880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5DBBE5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SAP S/4HANA </a:t>
            </a:r>
            <a:r>
              <a:rPr lang="en-US" dirty="0">
                <a:solidFill>
                  <a:srgbClr val="002060"/>
                </a:solidFill>
              </a:rPr>
              <a:t>(IDoc / OData)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C439EB7-76D1-919C-A6BA-5E5E8B3C47EC}"/>
              </a:ext>
            </a:extLst>
          </p:cNvPr>
          <p:cNvSpPr/>
          <p:nvPr/>
        </p:nvSpPr>
        <p:spPr>
          <a:xfrm>
            <a:off x="4486893" y="4773880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D668C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E‑commerce / POS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0710ED9-595F-9099-9064-BEE431B61AF8}"/>
              </a:ext>
            </a:extLst>
          </p:cNvPr>
          <p:cNvSpPr/>
          <p:nvPr/>
        </p:nvSpPr>
        <p:spPr>
          <a:xfrm>
            <a:off x="781793" y="4773880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D668C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Analytics / Data Lake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F02D6BD-3008-77CC-D3EA-7EAEFE3B6744}"/>
              </a:ext>
            </a:extLst>
          </p:cNvPr>
          <p:cNvSpPr/>
          <p:nvPr/>
        </p:nvSpPr>
        <p:spPr>
          <a:xfrm>
            <a:off x="807915" y="1234809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92D050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Publisher (ERP / CRM)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E999E7-614A-2128-1E24-7E145B0661E6}"/>
              </a:ext>
            </a:extLst>
          </p:cNvPr>
          <p:cNvSpPr/>
          <p:nvPr/>
        </p:nvSpPr>
        <p:spPr>
          <a:xfrm>
            <a:off x="807915" y="2113808"/>
            <a:ext cx="3192091" cy="2553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Event</a:t>
            </a:r>
            <a:r>
              <a:rPr lang="en-US" sz="1600" dirty="0"/>
              <a:t>: OrderCreated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FBA0B3-82C9-41D2-7774-04566D1A605B}"/>
              </a:ext>
            </a:extLst>
          </p:cNvPr>
          <p:cNvSpPr/>
          <p:nvPr/>
        </p:nvSpPr>
        <p:spPr>
          <a:xfrm>
            <a:off x="3405116" y="1144019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2AF29BD-C6DB-E234-4A79-DF37183765D9}"/>
              </a:ext>
            </a:extLst>
          </p:cNvPr>
          <p:cNvSpPr/>
          <p:nvPr/>
        </p:nvSpPr>
        <p:spPr>
          <a:xfrm>
            <a:off x="7105933" y="2916411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2F4683B-7800-C306-BCF7-B1701860A412}"/>
              </a:ext>
            </a:extLst>
          </p:cNvPr>
          <p:cNvSpPr/>
          <p:nvPr/>
        </p:nvSpPr>
        <p:spPr>
          <a:xfrm>
            <a:off x="10806750" y="4688803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05760E5-C735-8DDA-8C38-1C0AC598C1A0}"/>
              </a:ext>
            </a:extLst>
          </p:cNvPr>
          <p:cNvSpPr/>
          <p:nvPr/>
        </p:nvSpPr>
        <p:spPr>
          <a:xfrm>
            <a:off x="10806749" y="2916411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920CB63-7453-FB68-65C2-B8E8675EC6DD}"/>
              </a:ext>
            </a:extLst>
          </p:cNvPr>
          <p:cNvSpPr/>
          <p:nvPr/>
        </p:nvSpPr>
        <p:spPr>
          <a:xfrm>
            <a:off x="3405115" y="4688803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58F75EC-CB2F-41F9-F7DA-D5FEC680908D}"/>
              </a:ext>
            </a:extLst>
          </p:cNvPr>
          <p:cNvSpPr/>
          <p:nvPr/>
        </p:nvSpPr>
        <p:spPr>
          <a:xfrm>
            <a:off x="7101650" y="4688802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2376A1-579C-F5BE-32CB-EFEF54C92237}"/>
              </a:ext>
            </a:extLst>
          </p:cNvPr>
          <p:cNvSpPr/>
          <p:nvPr/>
        </p:nvSpPr>
        <p:spPr>
          <a:xfrm>
            <a:off x="4486893" y="3886154"/>
            <a:ext cx="3218213" cy="2553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Topic: </a:t>
            </a:r>
            <a:r>
              <a:rPr lang="en-US" sz="1600" dirty="0"/>
              <a:t>retail/orders/created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D99C5CB-5FAE-0E90-26AC-71003D5F8182}"/>
              </a:ext>
            </a:extLst>
          </p:cNvPr>
          <p:cNvSpPr/>
          <p:nvPr/>
        </p:nvSpPr>
        <p:spPr>
          <a:xfrm>
            <a:off x="781792" y="5658546"/>
            <a:ext cx="3218213" cy="255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Event capture &amp; replay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64B278F-D42B-BEB7-41BD-38C96965A7D4}"/>
              </a:ext>
            </a:extLst>
          </p:cNvPr>
          <p:cNvSpPr/>
          <p:nvPr/>
        </p:nvSpPr>
        <p:spPr>
          <a:xfrm>
            <a:off x="4486892" y="5658546"/>
            <a:ext cx="3218213" cy="255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Real‑time stock &amp; pricing</a:t>
            </a:r>
            <a:endParaRPr lang="en-US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5AE878-557F-ED7E-B973-77A650C1FB04}"/>
              </a:ext>
            </a:extLst>
          </p:cNvPr>
          <p:cNvSpPr/>
          <p:nvPr/>
        </p:nvSpPr>
        <p:spPr>
          <a:xfrm>
            <a:off x="8191994" y="3886154"/>
            <a:ext cx="3218213" cy="255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Mapping • Validation • Routing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3506BCB-451A-AC8A-6D79-E01DC5DB27F8}"/>
              </a:ext>
            </a:extLst>
          </p:cNvPr>
          <p:cNvSpPr/>
          <p:nvPr/>
        </p:nvSpPr>
        <p:spPr>
          <a:xfrm>
            <a:off x="8191994" y="5658546"/>
            <a:ext cx="3218213" cy="255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ORDERS05 • A2X</a:t>
            </a:r>
            <a:endParaRPr lang="en-US" sz="14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720ECE8-B9C7-4C92-4A3B-4F802FE8B356}"/>
              </a:ext>
            </a:extLst>
          </p:cNvPr>
          <p:cNvCxnSpPr>
            <a:cxnSpLocks/>
          </p:cNvCxnSpPr>
          <p:nvPr/>
        </p:nvCxnSpPr>
        <p:spPr>
          <a:xfrm>
            <a:off x="1967191" y="2369128"/>
            <a:ext cx="2531017" cy="117756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A7BA6F1A-2B90-4BF0-2542-931C0C3A9C82}"/>
              </a:ext>
            </a:extLst>
          </p:cNvPr>
          <p:cNvSpPr/>
          <p:nvPr/>
        </p:nvSpPr>
        <p:spPr>
          <a:xfrm>
            <a:off x="1877190" y="2284841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81FE5EE-091F-A5F7-A56B-6D0C20F3B909}"/>
              </a:ext>
            </a:extLst>
          </p:cNvPr>
          <p:cNvCxnSpPr>
            <a:cxnSpLocks/>
          </p:cNvCxnSpPr>
          <p:nvPr/>
        </p:nvCxnSpPr>
        <p:spPr>
          <a:xfrm flipH="1" flipV="1">
            <a:off x="2828925" y="2378034"/>
            <a:ext cx="1711456" cy="758866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76E224B0-9D0A-3CD8-1920-B53B0B0E0029}"/>
              </a:ext>
            </a:extLst>
          </p:cNvPr>
          <p:cNvSpPr/>
          <p:nvPr/>
        </p:nvSpPr>
        <p:spPr>
          <a:xfrm>
            <a:off x="4450381" y="3035573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83B69C9-3BE3-D575-8421-C153E29CD7ED}"/>
              </a:ext>
            </a:extLst>
          </p:cNvPr>
          <p:cNvCxnSpPr>
            <a:cxnSpLocks/>
          </p:cNvCxnSpPr>
          <p:nvPr/>
        </p:nvCxnSpPr>
        <p:spPr>
          <a:xfrm flipH="1">
            <a:off x="7063759" y="3763411"/>
            <a:ext cx="1781417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C3E7379D-78DA-7151-A3AF-390988ABE5E9}"/>
              </a:ext>
            </a:extLst>
          </p:cNvPr>
          <p:cNvSpPr/>
          <p:nvPr/>
        </p:nvSpPr>
        <p:spPr>
          <a:xfrm>
            <a:off x="8755176" y="3663616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B552957-D2AD-0C15-163E-21CF09AC956A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2365579" y="4013814"/>
            <a:ext cx="2121314" cy="757584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9C9A906-28BC-2E34-EA3C-45CAB10A4D2A}"/>
              </a:ext>
            </a:extLst>
          </p:cNvPr>
          <p:cNvCxnSpPr>
            <a:cxnSpLocks/>
          </p:cNvCxnSpPr>
          <p:nvPr/>
        </p:nvCxnSpPr>
        <p:spPr>
          <a:xfrm flipH="1">
            <a:off x="6095998" y="4143956"/>
            <a:ext cx="2" cy="1016307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1D8F60C-B898-51E5-A60E-EE1D9F6D1275}"/>
              </a:ext>
            </a:extLst>
          </p:cNvPr>
          <p:cNvCxnSpPr>
            <a:cxnSpLocks/>
          </p:cNvCxnSpPr>
          <p:nvPr/>
        </p:nvCxnSpPr>
        <p:spPr>
          <a:xfrm flipH="1">
            <a:off x="9618865" y="4141474"/>
            <a:ext cx="2" cy="1016307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E312D56-2557-CCD1-C00D-E3970CA3DAF3}"/>
              </a:ext>
            </a:extLst>
          </p:cNvPr>
          <p:cNvCxnSpPr>
            <a:cxnSpLocks/>
          </p:cNvCxnSpPr>
          <p:nvPr/>
        </p:nvCxnSpPr>
        <p:spPr>
          <a:xfrm flipV="1">
            <a:off x="10037928" y="4073857"/>
            <a:ext cx="3871" cy="1037405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E1159A71-2ADA-C37D-AF22-C733F8090062}"/>
              </a:ext>
            </a:extLst>
          </p:cNvPr>
          <p:cNvSpPr/>
          <p:nvPr/>
        </p:nvSpPr>
        <p:spPr>
          <a:xfrm>
            <a:off x="4408208" y="3914012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EE0C7E5E-2E56-33C3-2100-6AD6800EE27A}"/>
              </a:ext>
            </a:extLst>
          </p:cNvPr>
          <p:cNvSpPr/>
          <p:nvPr/>
        </p:nvSpPr>
        <p:spPr>
          <a:xfrm>
            <a:off x="6006949" y="4046552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AE40EE6-7A5A-1C4F-2D99-0956F7E86CCF}"/>
              </a:ext>
            </a:extLst>
          </p:cNvPr>
          <p:cNvSpPr/>
          <p:nvPr/>
        </p:nvSpPr>
        <p:spPr>
          <a:xfrm>
            <a:off x="9524996" y="4061547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C88AA0A-82CD-825C-16D3-38627334B678}"/>
              </a:ext>
            </a:extLst>
          </p:cNvPr>
          <p:cNvSpPr/>
          <p:nvPr/>
        </p:nvSpPr>
        <p:spPr>
          <a:xfrm>
            <a:off x="9956082" y="5005171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5" name="Graphic 114" descr="Badge 1 with solid fill">
            <a:extLst>
              <a:ext uri="{FF2B5EF4-FFF2-40B4-BE49-F238E27FC236}">
                <a16:creationId xmlns:a16="http://schemas.microsoft.com/office/drawing/2014/main" id="{9747F12D-3DE1-9D60-94DE-6604AB781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938" y="1211271"/>
            <a:ext cx="463037" cy="463037"/>
          </a:xfrm>
          <a:prstGeom prst="rect">
            <a:avLst/>
          </a:prstGeom>
        </p:spPr>
      </p:pic>
      <p:pic>
        <p:nvPicPr>
          <p:cNvPr id="117" name="Graphic 116" descr="Badge with solid fill">
            <a:extLst>
              <a:ext uri="{FF2B5EF4-FFF2-40B4-BE49-F238E27FC236}">
                <a16:creationId xmlns:a16="http://schemas.microsoft.com/office/drawing/2014/main" id="{9DDE9372-CBC4-4919-54B0-BF77E54164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5933" y="2966832"/>
            <a:ext cx="497482" cy="497482"/>
          </a:xfrm>
          <a:prstGeom prst="rect">
            <a:avLst/>
          </a:prstGeom>
        </p:spPr>
      </p:pic>
      <p:pic>
        <p:nvPicPr>
          <p:cNvPr id="119" name="Graphic 118" descr="Badge 3 with solid fill">
            <a:extLst>
              <a:ext uri="{FF2B5EF4-FFF2-40B4-BE49-F238E27FC236}">
                <a16:creationId xmlns:a16="http://schemas.microsoft.com/office/drawing/2014/main" id="{A4592234-E821-CDC0-7514-1A16E99AC8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15052" y="2972473"/>
            <a:ext cx="495155" cy="495155"/>
          </a:xfrm>
          <a:prstGeom prst="rect">
            <a:avLst/>
          </a:prstGeom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A44333D-3F81-1655-4405-7FA0F522E877}"/>
              </a:ext>
            </a:extLst>
          </p:cNvPr>
          <p:cNvCxnSpPr>
            <a:cxnSpLocks/>
          </p:cNvCxnSpPr>
          <p:nvPr/>
        </p:nvCxnSpPr>
        <p:spPr>
          <a:xfrm>
            <a:off x="7063759" y="3390311"/>
            <a:ext cx="182922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3" name="Graphic 122" descr="Badge 4 with solid fill">
            <a:extLst>
              <a:ext uri="{FF2B5EF4-FFF2-40B4-BE49-F238E27FC236}">
                <a16:creationId xmlns:a16="http://schemas.microsoft.com/office/drawing/2014/main" id="{A2979E5B-1AB9-A23E-BB27-2515693FA2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15052" y="4740544"/>
            <a:ext cx="493460" cy="493460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1345FC8-E321-5218-B5A3-C2BC3EB555C3}"/>
              </a:ext>
            </a:extLst>
          </p:cNvPr>
          <p:cNvCxnSpPr>
            <a:cxnSpLocks/>
          </p:cNvCxnSpPr>
          <p:nvPr/>
        </p:nvCxnSpPr>
        <p:spPr>
          <a:xfrm>
            <a:off x="572539" y="6261671"/>
            <a:ext cx="959938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160E97D-DF0F-BC38-F491-6A9FAC2A71DB}"/>
              </a:ext>
            </a:extLst>
          </p:cNvPr>
          <p:cNvSpPr txBox="1"/>
          <p:nvPr/>
        </p:nvSpPr>
        <p:spPr>
          <a:xfrm>
            <a:off x="1532477" y="6107782"/>
            <a:ext cx="1325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Acknowledged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9349042-1990-6575-5AD6-791DDB66D85B}"/>
              </a:ext>
            </a:extLst>
          </p:cNvPr>
          <p:cNvSpPr/>
          <p:nvPr/>
        </p:nvSpPr>
        <p:spPr>
          <a:xfrm>
            <a:off x="6986208" y="3300227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98575-B15C-4288-921F-9620D75FD745}"/>
              </a:ext>
            </a:extLst>
          </p:cNvPr>
          <p:cNvSpPr txBox="1"/>
          <p:nvPr/>
        </p:nvSpPr>
        <p:spPr>
          <a:xfrm>
            <a:off x="9258478" y="6118670"/>
            <a:ext cx="2418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(Manually controlled)</a:t>
            </a:r>
            <a:endParaRPr lang="en-US" dirty="0"/>
          </a:p>
        </p:txBody>
      </p:sp>
      <p:pic>
        <p:nvPicPr>
          <p:cNvPr id="12" name="Picture 11" descr="A green and black text&#10;&#10;AI-generated content may be incorrect.">
            <a:extLst>
              <a:ext uri="{FF2B5EF4-FFF2-40B4-BE49-F238E27FC236}">
                <a16:creationId xmlns:a16="http://schemas.microsoft.com/office/drawing/2014/main" id="{9AAC2210-9F2E-A3B0-933B-8237046E1C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68" y="453944"/>
            <a:ext cx="1223633" cy="44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68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1.85185E-6 L 0.20834 0.1717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17" y="8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96296E-6 L 0.14427 -0.0018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14" y="-93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3.7037E-6 L -0.16966 0.11041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90" y="550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40741E-7 L 0 0.1423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07407E-6 L 0.00156 0.14005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" y="6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07407E-6 L 1.66667E-6 -0.13888 " pathEditMode="relative" rAng="0" ptsTypes="AA">
                                      <p:cBhvr>
                                        <p:cTn id="45" dur="1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59259E-6 L -0.14297 0.00209 " pathEditMode="relative" rAng="0" ptsTypes="AA">
                                      <p:cBhvr>
                                        <p:cTn id="48" dur="1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61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2.96296E-6 L -0.14037 -0.10996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18" y="-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69" grpId="0" animBg="1"/>
      <p:bldP spid="78" grpId="0" animBg="1"/>
      <p:bldP spid="100" grpId="0" animBg="1"/>
      <p:bldP spid="101" grpId="0" animBg="1"/>
      <p:bldP spid="102" grpId="0" animBg="1"/>
      <p:bldP spid="103" grpId="0" animBg="1"/>
      <p:bldP spid="7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2559D-3ED4-C752-2E2C-E07855AD1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B932D9-B002-ABFA-6138-73562BB13BDC}"/>
              </a:ext>
            </a:extLst>
          </p:cNvPr>
          <p:cNvSpPr/>
          <p:nvPr/>
        </p:nvSpPr>
        <p:spPr>
          <a:xfrm>
            <a:off x="500743" y="1021278"/>
            <a:ext cx="11190514" cy="1555668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B42A82-B918-0267-370A-04EA21E0E5AE}"/>
              </a:ext>
            </a:extLst>
          </p:cNvPr>
          <p:cNvSpPr/>
          <p:nvPr/>
        </p:nvSpPr>
        <p:spPr>
          <a:xfrm>
            <a:off x="500743" y="2793670"/>
            <a:ext cx="11190514" cy="1555668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49BA16-55EB-1A73-4459-A686EE38FAD0}"/>
              </a:ext>
            </a:extLst>
          </p:cNvPr>
          <p:cNvSpPr/>
          <p:nvPr/>
        </p:nvSpPr>
        <p:spPr>
          <a:xfrm>
            <a:off x="500743" y="4566062"/>
            <a:ext cx="11190514" cy="1555668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1A37C70-1768-87C1-9888-5D4E68983D34}"/>
              </a:ext>
            </a:extLst>
          </p:cNvPr>
          <p:cNvSpPr/>
          <p:nvPr/>
        </p:nvSpPr>
        <p:spPr>
          <a:xfrm>
            <a:off x="4486893" y="3001488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E97132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AEM Broker (Topic Exchange)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2AD1E7-0471-3425-F0B8-AE2F63030E47}"/>
              </a:ext>
            </a:extLst>
          </p:cNvPr>
          <p:cNvSpPr txBox="1"/>
          <p:nvPr/>
        </p:nvSpPr>
        <p:spPr>
          <a:xfrm>
            <a:off x="500743" y="463138"/>
            <a:ext cx="8254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Event-Driven Integration </a:t>
            </a:r>
            <a:r>
              <a:rPr lang="en-US" sz="2000" dirty="0"/>
              <a:t>with SAP Advanced Event Mesh (</a:t>
            </a:r>
            <a:r>
              <a:rPr lang="en-US" sz="2000" b="1" dirty="0"/>
              <a:t>AEM</a:t>
            </a:r>
            <a:r>
              <a:rPr lang="en-US" sz="2000" dirty="0"/>
              <a:t>) &amp; </a:t>
            </a:r>
            <a:r>
              <a:rPr lang="en-US" sz="2000" b="1" dirty="0"/>
              <a:t>SAP CI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8D7E9F-6B46-E914-75A5-0F62BE904FBF}"/>
              </a:ext>
            </a:extLst>
          </p:cNvPr>
          <p:cNvSpPr/>
          <p:nvPr/>
        </p:nvSpPr>
        <p:spPr>
          <a:xfrm>
            <a:off x="8191994" y="3001488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5DBBE5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SAP</a:t>
            </a:r>
            <a:r>
              <a:rPr lang="en-US" dirty="0">
                <a:solidFill>
                  <a:srgbClr val="002060"/>
                </a:solidFill>
              </a:rPr>
              <a:t> Cloud Integration (</a:t>
            </a:r>
            <a:r>
              <a:rPr lang="en-US" b="1" dirty="0">
                <a:solidFill>
                  <a:srgbClr val="002060"/>
                </a:solidFill>
              </a:rPr>
              <a:t>CPI</a:t>
            </a:r>
            <a:r>
              <a:rPr lang="en-US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464E33-0711-BD43-8618-81B3E258C31E}"/>
              </a:ext>
            </a:extLst>
          </p:cNvPr>
          <p:cNvSpPr/>
          <p:nvPr/>
        </p:nvSpPr>
        <p:spPr>
          <a:xfrm>
            <a:off x="8191994" y="4773880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5DBBE5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SAP S/4HANA </a:t>
            </a:r>
            <a:r>
              <a:rPr lang="en-US" dirty="0">
                <a:solidFill>
                  <a:srgbClr val="002060"/>
                </a:solidFill>
              </a:rPr>
              <a:t>(IDoc / OData)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C1B82ED-1FF3-06C5-9FBF-1504F6EF003C}"/>
              </a:ext>
            </a:extLst>
          </p:cNvPr>
          <p:cNvSpPr/>
          <p:nvPr/>
        </p:nvSpPr>
        <p:spPr>
          <a:xfrm>
            <a:off x="4486893" y="4773880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D668C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E‑commerce / POS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425A2AD-6E5C-3C6B-8370-07FDA2CD0544}"/>
              </a:ext>
            </a:extLst>
          </p:cNvPr>
          <p:cNvSpPr/>
          <p:nvPr/>
        </p:nvSpPr>
        <p:spPr>
          <a:xfrm>
            <a:off x="781793" y="4773880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D668C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Analytics / Data Lake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70F9FFD-26B6-2EC9-E9FD-42478A818E89}"/>
              </a:ext>
            </a:extLst>
          </p:cNvPr>
          <p:cNvSpPr/>
          <p:nvPr/>
        </p:nvSpPr>
        <p:spPr>
          <a:xfrm>
            <a:off x="807915" y="1234809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92D050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Publisher (ERP / CRM)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F97402-363E-92A7-AE31-C1A7C4D4344F}"/>
              </a:ext>
            </a:extLst>
          </p:cNvPr>
          <p:cNvSpPr/>
          <p:nvPr/>
        </p:nvSpPr>
        <p:spPr>
          <a:xfrm>
            <a:off x="807915" y="2113808"/>
            <a:ext cx="3192091" cy="2553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Event</a:t>
            </a:r>
            <a:r>
              <a:rPr lang="en-US" sz="1600" dirty="0"/>
              <a:t>: OrderCreated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CF5DB6D-CCA7-7199-A705-2746CE059198}"/>
              </a:ext>
            </a:extLst>
          </p:cNvPr>
          <p:cNvSpPr/>
          <p:nvPr/>
        </p:nvSpPr>
        <p:spPr>
          <a:xfrm>
            <a:off x="3405116" y="1144019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471AA6F-D91C-E7AB-EFA7-7B582C58EC3F}"/>
              </a:ext>
            </a:extLst>
          </p:cNvPr>
          <p:cNvSpPr/>
          <p:nvPr/>
        </p:nvSpPr>
        <p:spPr>
          <a:xfrm>
            <a:off x="7105933" y="2916411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A63DE10-6152-F98A-16B5-880BEE4C924E}"/>
              </a:ext>
            </a:extLst>
          </p:cNvPr>
          <p:cNvSpPr/>
          <p:nvPr/>
        </p:nvSpPr>
        <p:spPr>
          <a:xfrm>
            <a:off x="10806750" y="4688803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F93EA34-971E-6DCD-7FF4-D08B66B438B7}"/>
              </a:ext>
            </a:extLst>
          </p:cNvPr>
          <p:cNvSpPr/>
          <p:nvPr/>
        </p:nvSpPr>
        <p:spPr>
          <a:xfrm>
            <a:off x="10806749" y="2916411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050180B-DA5B-D50E-7A0C-65B7E8E4D779}"/>
              </a:ext>
            </a:extLst>
          </p:cNvPr>
          <p:cNvSpPr/>
          <p:nvPr/>
        </p:nvSpPr>
        <p:spPr>
          <a:xfrm>
            <a:off x="3405115" y="4688803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D5ACA76-15AF-F0C1-34F0-4688ECF9C3EE}"/>
              </a:ext>
            </a:extLst>
          </p:cNvPr>
          <p:cNvSpPr/>
          <p:nvPr/>
        </p:nvSpPr>
        <p:spPr>
          <a:xfrm>
            <a:off x="7101650" y="4688802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94D1E8-4EA3-6064-F87A-F7C586241915}"/>
              </a:ext>
            </a:extLst>
          </p:cNvPr>
          <p:cNvSpPr/>
          <p:nvPr/>
        </p:nvSpPr>
        <p:spPr>
          <a:xfrm>
            <a:off x="4486893" y="3886154"/>
            <a:ext cx="3218213" cy="2553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Topic: </a:t>
            </a:r>
            <a:r>
              <a:rPr lang="en-US" sz="1600" dirty="0"/>
              <a:t>retail/orders/created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7E9054B-62FA-B63D-8720-6D73BD663023}"/>
              </a:ext>
            </a:extLst>
          </p:cNvPr>
          <p:cNvSpPr/>
          <p:nvPr/>
        </p:nvSpPr>
        <p:spPr>
          <a:xfrm>
            <a:off x="781792" y="5658546"/>
            <a:ext cx="3218213" cy="255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Event capture &amp; replay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FA810C-E9AD-08BB-67CE-F42C5AF14DB3}"/>
              </a:ext>
            </a:extLst>
          </p:cNvPr>
          <p:cNvSpPr/>
          <p:nvPr/>
        </p:nvSpPr>
        <p:spPr>
          <a:xfrm>
            <a:off x="4486892" y="5658546"/>
            <a:ext cx="3218213" cy="255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Real‑time stock &amp; pricing</a:t>
            </a:r>
            <a:endParaRPr lang="en-US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CC58C9A-6D29-D41A-0F52-15C9D2453D4F}"/>
              </a:ext>
            </a:extLst>
          </p:cNvPr>
          <p:cNvSpPr/>
          <p:nvPr/>
        </p:nvSpPr>
        <p:spPr>
          <a:xfrm>
            <a:off x="8191994" y="3886154"/>
            <a:ext cx="3218213" cy="255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Mapping • Validation • Routing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8AA7C3-9D69-D66F-D770-B210C0FD065D}"/>
              </a:ext>
            </a:extLst>
          </p:cNvPr>
          <p:cNvSpPr/>
          <p:nvPr/>
        </p:nvSpPr>
        <p:spPr>
          <a:xfrm>
            <a:off x="8191994" y="5658546"/>
            <a:ext cx="3218213" cy="255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ORDERS05 • A2X</a:t>
            </a:r>
            <a:endParaRPr lang="en-US" sz="14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AF4BDDF-FBED-CE30-CEA9-2252F555FDFE}"/>
              </a:ext>
            </a:extLst>
          </p:cNvPr>
          <p:cNvCxnSpPr>
            <a:cxnSpLocks/>
          </p:cNvCxnSpPr>
          <p:nvPr/>
        </p:nvCxnSpPr>
        <p:spPr>
          <a:xfrm>
            <a:off x="1967191" y="2369128"/>
            <a:ext cx="2531017" cy="117756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8C6CC2ED-3891-0E5E-2586-0232338A8B70}"/>
              </a:ext>
            </a:extLst>
          </p:cNvPr>
          <p:cNvSpPr/>
          <p:nvPr/>
        </p:nvSpPr>
        <p:spPr>
          <a:xfrm>
            <a:off x="1877190" y="2284841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00061E9-74F4-798E-D9FD-6D0AAA6E6B35}"/>
              </a:ext>
            </a:extLst>
          </p:cNvPr>
          <p:cNvCxnSpPr>
            <a:cxnSpLocks/>
          </p:cNvCxnSpPr>
          <p:nvPr/>
        </p:nvCxnSpPr>
        <p:spPr>
          <a:xfrm flipH="1" flipV="1">
            <a:off x="2828925" y="2378034"/>
            <a:ext cx="1711456" cy="758866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1E769ADE-17D5-3E73-D606-20862E326DAA}"/>
              </a:ext>
            </a:extLst>
          </p:cNvPr>
          <p:cNvSpPr/>
          <p:nvPr/>
        </p:nvSpPr>
        <p:spPr>
          <a:xfrm>
            <a:off x="4450381" y="3035573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FD96E12-84B9-D9A3-191B-7313748335CE}"/>
              </a:ext>
            </a:extLst>
          </p:cNvPr>
          <p:cNvCxnSpPr>
            <a:cxnSpLocks/>
          </p:cNvCxnSpPr>
          <p:nvPr/>
        </p:nvCxnSpPr>
        <p:spPr>
          <a:xfrm flipH="1">
            <a:off x="7499332" y="3763411"/>
            <a:ext cx="1345844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9D4FB204-31B2-98F0-F8BD-99DBECFF55D6}"/>
              </a:ext>
            </a:extLst>
          </p:cNvPr>
          <p:cNvSpPr/>
          <p:nvPr/>
        </p:nvSpPr>
        <p:spPr>
          <a:xfrm>
            <a:off x="8755176" y="3663616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822F931-EF8D-C5D0-24A5-D765BB07DDBF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2365579" y="4013814"/>
            <a:ext cx="2121314" cy="757584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2FABD14-6300-6D4C-8030-41816349E086}"/>
              </a:ext>
            </a:extLst>
          </p:cNvPr>
          <p:cNvCxnSpPr>
            <a:cxnSpLocks/>
          </p:cNvCxnSpPr>
          <p:nvPr/>
        </p:nvCxnSpPr>
        <p:spPr>
          <a:xfrm flipH="1">
            <a:off x="6095998" y="4143956"/>
            <a:ext cx="2" cy="1016307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387FEF3-3A0B-1E1C-2416-1C7523D7472A}"/>
              </a:ext>
            </a:extLst>
          </p:cNvPr>
          <p:cNvCxnSpPr>
            <a:cxnSpLocks/>
          </p:cNvCxnSpPr>
          <p:nvPr/>
        </p:nvCxnSpPr>
        <p:spPr>
          <a:xfrm flipH="1">
            <a:off x="9618865" y="4141474"/>
            <a:ext cx="2" cy="1016307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99A7A80-0A60-42A4-8133-D85D94A4C047}"/>
              </a:ext>
            </a:extLst>
          </p:cNvPr>
          <p:cNvCxnSpPr>
            <a:cxnSpLocks/>
          </p:cNvCxnSpPr>
          <p:nvPr/>
        </p:nvCxnSpPr>
        <p:spPr>
          <a:xfrm flipV="1">
            <a:off x="10037928" y="4073857"/>
            <a:ext cx="3871" cy="1037405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317CF020-0B3E-C663-938C-72982C98E205}"/>
              </a:ext>
            </a:extLst>
          </p:cNvPr>
          <p:cNvSpPr/>
          <p:nvPr/>
        </p:nvSpPr>
        <p:spPr>
          <a:xfrm>
            <a:off x="4408208" y="3914012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721A6D4-33C0-15D1-886A-6BBEFBFE1CEA}"/>
              </a:ext>
            </a:extLst>
          </p:cNvPr>
          <p:cNvSpPr/>
          <p:nvPr/>
        </p:nvSpPr>
        <p:spPr>
          <a:xfrm>
            <a:off x="6006949" y="4046552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C8CAC965-63E1-6EB4-CF59-45CEA512BD18}"/>
              </a:ext>
            </a:extLst>
          </p:cNvPr>
          <p:cNvSpPr/>
          <p:nvPr/>
        </p:nvSpPr>
        <p:spPr>
          <a:xfrm>
            <a:off x="9524996" y="4061547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05AC209-0663-FA38-70FE-5DDD7E78B323}"/>
              </a:ext>
            </a:extLst>
          </p:cNvPr>
          <p:cNvSpPr/>
          <p:nvPr/>
        </p:nvSpPr>
        <p:spPr>
          <a:xfrm>
            <a:off x="9956082" y="5005171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5" name="Graphic 114" descr="Badge 1 with solid fill">
            <a:extLst>
              <a:ext uri="{FF2B5EF4-FFF2-40B4-BE49-F238E27FC236}">
                <a16:creationId xmlns:a16="http://schemas.microsoft.com/office/drawing/2014/main" id="{67F59955-17A2-3D87-2970-696E5EF30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938" y="1211271"/>
            <a:ext cx="463037" cy="463037"/>
          </a:xfrm>
          <a:prstGeom prst="rect">
            <a:avLst/>
          </a:prstGeom>
        </p:spPr>
      </p:pic>
      <p:pic>
        <p:nvPicPr>
          <p:cNvPr id="117" name="Graphic 116" descr="Badge with solid fill">
            <a:extLst>
              <a:ext uri="{FF2B5EF4-FFF2-40B4-BE49-F238E27FC236}">
                <a16:creationId xmlns:a16="http://schemas.microsoft.com/office/drawing/2014/main" id="{3A7F3807-7893-61F9-4C55-916F0E87AB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5933" y="2966832"/>
            <a:ext cx="497482" cy="497482"/>
          </a:xfrm>
          <a:prstGeom prst="rect">
            <a:avLst/>
          </a:prstGeom>
        </p:spPr>
      </p:pic>
      <p:pic>
        <p:nvPicPr>
          <p:cNvPr id="119" name="Graphic 118" descr="Badge 3 with solid fill">
            <a:extLst>
              <a:ext uri="{FF2B5EF4-FFF2-40B4-BE49-F238E27FC236}">
                <a16:creationId xmlns:a16="http://schemas.microsoft.com/office/drawing/2014/main" id="{9A3393EA-CD6D-F3D8-0753-0E899B2891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15052" y="2972473"/>
            <a:ext cx="495155" cy="495155"/>
          </a:xfrm>
          <a:prstGeom prst="rect">
            <a:avLst/>
          </a:prstGeom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D707237-826D-54F9-D596-B4156F18992B}"/>
              </a:ext>
            </a:extLst>
          </p:cNvPr>
          <p:cNvCxnSpPr>
            <a:cxnSpLocks/>
          </p:cNvCxnSpPr>
          <p:nvPr/>
        </p:nvCxnSpPr>
        <p:spPr>
          <a:xfrm>
            <a:off x="7576883" y="3467628"/>
            <a:ext cx="1358293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3" name="Graphic 122" descr="Badge 4 with solid fill">
            <a:extLst>
              <a:ext uri="{FF2B5EF4-FFF2-40B4-BE49-F238E27FC236}">
                <a16:creationId xmlns:a16="http://schemas.microsoft.com/office/drawing/2014/main" id="{6AA466B4-FFDA-593B-E366-35B02E26F0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15052" y="4740544"/>
            <a:ext cx="493460" cy="493460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B6E7DAB-4A1F-FCF7-719D-E1705067ED18}"/>
              </a:ext>
            </a:extLst>
          </p:cNvPr>
          <p:cNvCxnSpPr>
            <a:cxnSpLocks/>
          </p:cNvCxnSpPr>
          <p:nvPr/>
        </p:nvCxnSpPr>
        <p:spPr>
          <a:xfrm>
            <a:off x="572539" y="6261671"/>
            <a:ext cx="959938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E10C149-E7B5-559E-4399-16BBBA42FB17}"/>
              </a:ext>
            </a:extLst>
          </p:cNvPr>
          <p:cNvSpPr txBox="1"/>
          <p:nvPr/>
        </p:nvSpPr>
        <p:spPr>
          <a:xfrm>
            <a:off x="1532477" y="6107782"/>
            <a:ext cx="1325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Acknowledged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8873578C-A36E-EE8A-598D-2D9634F09EE9}"/>
              </a:ext>
            </a:extLst>
          </p:cNvPr>
          <p:cNvSpPr/>
          <p:nvPr/>
        </p:nvSpPr>
        <p:spPr>
          <a:xfrm>
            <a:off x="7499332" y="3377544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73075F-2684-B7DB-9007-64B3BB1738B7}"/>
              </a:ext>
            </a:extLst>
          </p:cNvPr>
          <p:cNvSpPr txBox="1"/>
          <p:nvPr/>
        </p:nvSpPr>
        <p:spPr>
          <a:xfrm>
            <a:off x="9152933" y="6144882"/>
            <a:ext cx="2538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(Automatically played)</a:t>
            </a:r>
            <a:endParaRPr lang="en-US" dirty="0"/>
          </a:p>
        </p:txBody>
      </p:sp>
      <p:pic>
        <p:nvPicPr>
          <p:cNvPr id="12" name="Picture 11" descr="A green and black text&#10;&#10;AI-generated content may be incorrect.">
            <a:extLst>
              <a:ext uri="{FF2B5EF4-FFF2-40B4-BE49-F238E27FC236}">
                <a16:creationId xmlns:a16="http://schemas.microsoft.com/office/drawing/2014/main" id="{76DBAA2A-FCAE-6706-6BF5-0F8401E3055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68" y="453944"/>
            <a:ext cx="1223633" cy="44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6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1.85185E-6 L 0.20834 0.1717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17" y="8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44444E-6 L 0.1052 -0.0030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60" y="-162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3.7037E-6 L -0.16966 0.11041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90" y="5509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40741E-7 L 0 0.14236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500"/>
                            </p:stCondLst>
                            <p:childTnLst>
                              <p:par>
                                <p:cTn id="3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07407E-6 L 0.00156 0.14005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" y="6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07407E-6 L 1.66667E-6 -0.13888 " pathEditMode="relative" rAng="0" ptsTypes="AA">
                                      <p:cBhvr>
                                        <p:cTn id="42" dur="1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000"/>
                            </p:stCondLst>
                            <p:childTnLst>
                              <p:par>
                                <p:cTn id="4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7037E-6 L -0.10286 0.00324 " pathEditMode="relative" rAng="0" ptsTypes="AA">
                                      <p:cBhvr>
                                        <p:cTn id="45" dur="1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56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500"/>
                            </p:stCondLst>
                            <p:childTnLst>
                              <p:par>
                                <p:cTn id="4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2.96296E-6 L -0.14037 -0.1099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18" y="-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69" grpId="0" animBg="1"/>
      <p:bldP spid="78" grpId="0" animBg="1"/>
      <p:bldP spid="100" grpId="0" animBg="1"/>
      <p:bldP spid="101" grpId="0" animBg="1"/>
      <p:bldP spid="102" grpId="0" animBg="1"/>
      <p:bldP spid="103" grpId="0" animBg="1"/>
      <p:bldP spid="7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164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Rexho, Ilirjan</dc:creator>
  <cp:lastModifiedBy>Rexho, Ilirjan</cp:lastModifiedBy>
  <cp:revision>3</cp:revision>
  <dcterms:created xsi:type="dcterms:W3CDTF">2025-11-06T16:36:11Z</dcterms:created>
  <dcterms:modified xsi:type="dcterms:W3CDTF">2025-11-06T18:37:03Z</dcterms:modified>
</cp:coreProperties>
</file>