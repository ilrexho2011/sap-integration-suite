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44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2F16-E28F-4D2F-FCED-C58494D07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E873F-8ADF-8F01-E0F7-FD43CFD3A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58B12-DACC-DB71-067A-B2DFDD267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17F7A-FDF9-47B1-B3E6-8096D763E9D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70358-4F60-E68C-3D86-961FCE25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100EB-C74F-EA14-0CD6-C8382817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D97F2-EF1A-4DD0-BEBA-04EF9AAE9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63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9C8B5-8EDA-355B-1ABB-D8D562788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496ED-2BBD-C73E-A3F3-40090C712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3F538-709C-A823-D964-8D932F031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17F7A-FDF9-47B1-B3E6-8096D763E9D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7EEC9-E3D3-F8AD-FF2C-63BA6362F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F1D61-A2E2-F328-2DCA-79ACB81A5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D97F2-EF1A-4DD0-BEBA-04EF9AAE9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3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0D2013-C539-BE5D-46B1-0FB68F6BE5B5}"/>
              </a:ext>
            </a:extLst>
          </p:cNvPr>
          <p:cNvSpPr/>
          <p:nvPr/>
        </p:nvSpPr>
        <p:spPr>
          <a:xfrm>
            <a:off x="500743" y="2793670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D36B36F-80C6-A8F1-5DA5-7B085B07946D}"/>
              </a:ext>
            </a:extLst>
          </p:cNvPr>
          <p:cNvSpPr/>
          <p:nvPr/>
        </p:nvSpPr>
        <p:spPr>
          <a:xfrm>
            <a:off x="8191994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en-US" sz="1600" b="1" dirty="0">
                <a:solidFill>
                  <a:srgbClr val="002060"/>
                </a:solidFill>
              </a:rPr>
              <a:t>SAP</a:t>
            </a:r>
            <a:r>
              <a:rPr lang="en-US" sz="1600" dirty="0">
                <a:solidFill>
                  <a:srgbClr val="002060"/>
                </a:solidFill>
              </a:rPr>
              <a:t> Cloud Integration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B9059C7-3D81-6BB4-0524-0A5C4A59BE59}"/>
              </a:ext>
            </a:extLst>
          </p:cNvPr>
          <p:cNvSpPr/>
          <p:nvPr/>
        </p:nvSpPr>
        <p:spPr>
          <a:xfrm>
            <a:off x="786762" y="2995505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API</a:t>
            </a:r>
            <a:r>
              <a:rPr lang="en-US" sz="1600" dirty="0">
                <a:solidFill>
                  <a:srgbClr val="002060"/>
                </a:solidFill>
              </a:rPr>
              <a:t> Gateway (SAP </a:t>
            </a:r>
            <a:r>
              <a:rPr lang="en-US" sz="1600" b="1" dirty="0">
                <a:solidFill>
                  <a:srgbClr val="002060"/>
                </a:solidFill>
              </a:rPr>
              <a:t>API Mgmt</a:t>
            </a:r>
            <a:r>
              <a:rPr lang="en-US" sz="1600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5E2B4E-09DE-520E-EB53-34EF0BCFC10E}"/>
              </a:ext>
            </a:extLst>
          </p:cNvPr>
          <p:cNvSpPr/>
          <p:nvPr/>
        </p:nvSpPr>
        <p:spPr>
          <a:xfrm>
            <a:off x="500743" y="1048076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95A5C9-C3C3-B8D5-8A26-31EE811A4D8F}"/>
              </a:ext>
            </a:extLst>
          </p:cNvPr>
          <p:cNvSpPr/>
          <p:nvPr/>
        </p:nvSpPr>
        <p:spPr>
          <a:xfrm>
            <a:off x="500743" y="4566062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3C51176-222F-1636-995A-1CC6CAFA673E}"/>
              </a:ext>
            </a:extLst>
          </p:cNvPr>
          <p:cNvSpPr/>
          <p:nvPr/>
        </p:nvSpPr>
        <p:spPr>
          <a:xfrm>
            <a:off x="4486893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E9713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a-DK" sz="1600" b="1" dirty="0">
                <a:solidFill>
                  <a:srgbClr val="002060"/>
                </a:solidFill>
              </a:rPr>
              <a:t>Async Queue </a:t>
            </a:r>
            <a:br>
              <a:rPr lang="da-DK" sz="1600" dirty="0">
                <a:solidFill>
                  <a:srgbClr val="002060"/>
                </a:solidFill>
              </a:rPr>
            </a:br>
            <a:r>
              <a:rPr lang="da-DK" sz="1600" dirty="0">
                <a:solidFill>
                  <a:srgbClr val="002060"/>
                </a:solidFill>
              </a:rPr>
              <a:t>(Event/Message Store)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69C684-A06E-F44B-2176-5A473DAF836C}"/>
              </a:ext>
            </a:extLst>
          </p:cNvPr>
          <p:cNvSpPr txBox="1"/>
          <p:nvPr/>
        </p:nvSpPr>
        <p:spPr>
          <a:xfrm>
            <a:off x="500743" y="463138"/>
            <a:ext cx="11190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API</a:t>
            </a:r>
            <a:r>
              <a:rPr lang="en-US" sz="2000" dirty="0"/>
              <a:t>-Driven Asynchronous Integration with </a:t>
            </a:r>
            <a:r>
              <a:rPr lang="en-US" sz="2000" b="1" dirty="0"/>
              <a:t>SAP API Management </a:t>
            </a:r>
            <a:r>
              <a:rPr lang="en-US" sz="2000" dirty="0"/>
              <a:t>&amp; </a:t>
            </a:r>
            <a:r>
              <a:rPr lang="en-US" sz="2000" b="1" dirty="0"/>
              <a:t>SAP CI</a:t>
            </a:r>
            <a:endParaRPr lang="en-US" sz="2400" b="1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2A02322-EA7F-3812-5A78-3AF4309CEE04}"/>
              </a:ext>
            </a:extLst>
          </p:cNvPr>
          <p:cNvSpPr/>
          <p:nvPr/>
        </p:nvSpPr>
        <p:spPr>
          <a:xfrm>
            <a:off x="8191994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SAP S/4HANA </a:t>
            </a:r>
            <a:r>
              <a:rPr lang="en-US" sz="1600" dirty="0">
                <a:solidFill>
                  <a:srgbClr val="002060"/>
                </a:solidFill>
              </a:rPr>
              <a:t>(IDoc / OData)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C9EE454-0334-C4D3-1A4B-88FEE812C9AC}"/>
              </a:ext>
            </a:extLst>
          </p:cNvPr>
          <p:cNvSpPr/>
          <p:nvPr/>
        </p:nvSpPr>
        <p:spPr>
          <a:xfrm>
            <a:off x="44868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E‑commerce / POS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57C2BD-9401-1B3C-9385-FF293A41B2C4}"/>
              </a:ext>
            </a:extLst>
          </p:cNvPr>
          <p:cNvSpPr/>
          <p:nvPr/>
        </p:nvSpPr>
        <p:spPr>
          <a:xfrm>
            <a:off x="7817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3rd‑Party Service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124D205-DCE0-B9F4-84C7-06D68A426A9B}"/>
              </a:ext>
            </a:extLst>
          </p:cNvPr>
          <p:cNvSpPr/>
          <p:nvPr/>
        </p:nvSpPr>
        <p:spPr>
          <a:xfrm>
            <a:off x="807915" y="1234809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92D05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Client / App (API Consumer)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C8D447-AA49-0525-5260-92246A9A16E1}"/>
              </a:ext>
            </a:extLst>
          </p:cNvPr>
          <p:cNvSpPr/>
          <p:nvPr/>
        </p:nvSpPr>
        <p:spPr>
          <a:xfrm>
            <a:off x="807915" y="2039278"/>
            <a:ext cx="3192091" cy="3298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Sends REST requests • Receives</a:t>
            </a:r>
            <a:br>
              <a:rPr lang="en-US" sz="1050" dirty="0"/>
            </a:br>
            <a:r>
              <a:rPr lang="en-US" sz="1050" dirty="0"/>
              <a:t>webhook callbacks</a:t>
            </a:r>
            <a:endParaRPr lang="en-US" sz="10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A9440B6-9BE9-C974-3131-DEC94CEC8357}"/>
              </a:ext>
            </a:extLst>
          </p:cNvPr>
          <p:cNvSpPr/>
          <p:nvPr/>
        </p:nvSpPr>
        <p:spPr>
          <a:xfrm>
            <a:off x="3405116" y="1144019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32B53C0-9318-6285-333B-64D1670F654E}"/>
              </a:ext>
            </a:extLst>
          </p:cNvPr>
          <p:cNvSpPr/>
          <p:nvPr/>
        </p:nvSpPr>
        <p:spPr>
          <a:xfrm>
            <a:off x="7105933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F302BAF-95F9-C226-7884-E23EB72999A4}"/>
              </a:ext>
            </a:extLst>
          </p:cNvPr>
          <p:cNvSpPr/>
          <p:nvPr/>
        </p:nvSpPr>
        <p:spPr>
          <a:xfrm>
            <a:off x="10806750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64DB1D3-195E-D3E2-5A51-9C188E70D482}"/>
              </a:ext>
            </a:extLst>
          </p:cNvPr>
          <p:cNvSpPr/>
          <p:nvPr/>
        </p:nvSpPr>
        <p:spPr>
          <a:xfrm>
            <a:off x="10806749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8E535AA-51BB-4FDB-DCCF-3612943FE20C}"/>
              </a:ext>
            </a:extLst>
          </p:cNvPr>
          <p:cNvSpPr/>
          <p:nvPr/>
        </p:nvSpPr>
        <p:spPr>
          <a:xfrm>
            <a:off x="3405115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2DA7518-738A-05C2-743D-F920782B0D9E}"/>
              </a:ext>
            </a:extLst>
          </p:cNvPr>
          <p:cNvSpPr/>
          <p:nvPr/>
        </p:nvSpPr>
        <p:spPr>
          <a:xfrm>
            <a:off x="7101650" y="4688802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CB27BB-BADF-6523-6D0F-2931EE1ED271}"/>
              </a:ext>
            </a:extLst>
          </p:cNvPr>
          <p:cNvSpPr/>
          <p:nvPr/>
        </p:nvSpPr>
        <p:spPr>
          <a:xfrm>
            <a:off x="4486893" y="3886154"/>
            <a:ext cx="3218213" cy="255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Durable queue • Backoff retries • Idempotency key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59DA3F3-ECCF-3ED1-896B-F8BFABB6D169}"/>
              </a:ext>
            </a:extLst>
          </p:cNvPr>
          <p:cNvSpPr/>
          <p:nvPr/>
        </p:nvSpPr>
        <p:spPr>
          <a:xfrm>
            <a:off x="7817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Bank / Tax / Logistics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14C1AA-7932-794F-8A1F-CDF98891EF72}"/>
              </a:ext>
            </a:extLst>
          </p:cNvPr>
          <p:cNvSpPr/>
          <p:nvPr/>
        </p:nvSpPr>
        <p:spPr>
          <a:xfrm>
            <a:off x="44868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Real‑time stock &amp; pricing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B74DA8-D779-262F-530A-D2117EC4E4D4}"/>
              </a:ext>
            </a:extLst>
          </p:cNvPr>
          <p:cNvSpPr/>
          <p:nvPr/>
        </p:nvSpPr>
        <p:spPr>
          <a:xfrm>
            <a:off x="8191994" y="3886154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Mapping • Validation • Routing • Orchestration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AD89D5-EDB9-FC5C-DE74-FCA372586520}"/>
              </a:ext>
            </a:extLst>
          </p:cNvPr>
          <p:cNvSpPr/>
          <p:nvPr/>
        </p:nvSpPr>
        <p:spPr>
          <a:xfrm>
            <a:off x="8191994" y="5658546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ORDERS05 • A2X</a:t>
            </a:r>
            <a:endParaRPr lang="en-US" sz="12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269251D-AA50-6BB0-0211-3628E9C0E261}"/>
              </a:ext>
            </a:extLst>
          </p:cNvPr>
          <p:cNvCxnSpPr>
            <a:cxnSpLocks/>
          </p:cNvCxnSpPr>
          <p:nvPr/>
        </p:nvCxnSpPr>
        <p:spPr>
          <a:xfrm>
            <a:off x="3409206" y="2071032"/>
            <a:ext cx="0" cy="118276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2E3ADCD-56F1-C57C-5E76-C760707E78B0}"/>
              </a:ext>
            </a:extLst>
          </p:cNvPr>
          <p:cNvSpPr/>
          <p:nvPr/>
        </p:nvSpPr>
        <p:spPr>
          <a:xfrm>
            <a:off x="3319206" y="1980986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689A27C-EABB-6021-9273-05E1D1B17052}"/>
              </a:ext>
            </a:extLst>
          </p:cNvPr>
          <p:cNvCxnSpPr>
            <a:cxnSpLocks/>
          </p:cNvCxnSpPr>
          <p:nvPr/>
        </p:nvCxnSpPr>
        <p:spPr>
          <a:xfrm>
            <a:off x="3781270" y="3565520"/>
            <a:ext cx="1609189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4CC3A39-E5D2-6063-6008-990C6FC5CB20}"/>
              </a:ext>
            </a:extLst>
          </p:cNvPr>
          <p:cNvCxnSpPr>
            <a:cxnSpLocks/>
          </p:cNvCxnSpPr>
          <p:nvPr/>
        </p:nvCxnSpPr>
        <p:spPr>
          <a:xfrm flipH="1">
            <a:off x="3017575" y="4096904"/>
            <a:ext cx="5189938" cy="100948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2113A21-D168-9A7B-415D-D3C3E06FE308}"/>
              </a:ext>
            </a:extLst>
          </p:cNvPr>
          <p:cNvCxnSpPr>
            <a:cxnSpLocks/>
          </p:cNvCxnSpPr>
          <p:nvPr/>
        </p:nvCxnSpPr>
        <p:spPr>
          <a:xfrm flipH="1">
            <a:off x="7314906" y="4148516"/>
            <a:ext cx="2209322" cy="764854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8909A48-787E-0916-9B3C-E4485D198012}"/>
              </a:ext>
            </a:extLst>
          </p:cNvPr>
          <p:cNvCxnSpPr>
            <a:cxnSpLocks/>
          </p:cNvCxnSpPr>
          <p:nvPr/>
        </p:nvCxnSpPr>
        <p:spPr>
          <a:xfrm flipH="1" flipV="1">
            <a:off x="10735613" y="4095858"/>
            <a:ext cx="2899" cy="1013433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4D5DBAEF-5412-A1C9-63FA-A7F7BF552F16}"/>
              </a:ext>
            </a:extLst>
          </p:cNvPr>
          <p:cNvSpPr/>
          <p:nvPr/>
        </p:nvSpPr>
        <p:spPr>
          <a:xfrm>
            <a:off x="3711927" y="3463177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B86733B-5871-6D1A-9A4D-8C28D6E687D0}"/>
              </a:ext>
            </a:extLst>
          </p:cNvPr>
          <p:cNvSpPr/>
          <p:nvPr/>
        </p:nvSpPr>
        <p:spPr>
          <a:xfrm>
            <a:off x="8135390" y="4002839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EBFE4BD-525F-7642-A613-89B3F931BB02}"/>
              </a:ext>
            </a:extLst>
          </p:cNvPr>
          <p:cNvSpPr/>
          <p:nvPr/>
        </p:nvSpPr>
        <p:spPr>
          <a:xfrm>
            <a:off x="9399934" y="4045105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38D4B1C-F5B0-ECAF-56FC-6183AEE759C8}"/>
              </a:ext>
            </a:extLst>
          </p:cNvPr>
          <p:cNvSpPr/>
          <p:nvPr/>
        </p:nvSpPr>
        <p:spPr>
          <a:xfrm>
            <a:off x="10642269" y="5019314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Graphic 114" descr="Badge 1 with solid fill">
            <a:extLst>
              <a:ext uri="{FF2B5EF4-FFF2-40B4-BE49-F238E27FC236}">
                <a16:creationId xmlns:a16="http://schemas.microsoft.com/office/drawing/2014/main" id="{910E14A6-0068-753A-A5E7-DB4F6A0A7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6652" y="1223977"/>
            <a:ext cx="360000" cy="360000"/>
          </a:xfrm>
          <a:prstGeom prst="rect">
            <a:avLst/>
          </a:prstGeom>
        </p:spPr>
      </p:pic>
      <p:pic>
        <p:nvPicPr>
          <p:cNvPr id="117" name="Graphic 116" descr="Badge with solid fill">
            <a:extLst>
              <a:ext uri="{FF2B5EF4-FFF2-40B4-BE49-F238E27FC236}">
                <a16:creationId xmlns:a16="http://schemas.microsoft.com/office/drawing/2014/main" id="{868568E2-3CD2-BA89-4641-E1D1260FA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129" y="2997656"/>
            <a:ext cx="360000" cy="360000"/>
          </a:xfrm>
          <a:prstGeom prst="rect">
            <a:avLst/>
          </a:prstGeom>
        </p:spPr>
      </p:pic>
      <p:pic>
        <p:nvPicPr>
          <p:cNvPr id="119" name="Graphic 118" descr="Badge 3 with solid fill">
            <a:extLst>
              <a:ext uri="{FF2B5EF4-FFF2-40B4-BE49-F238E27FC236}">
                <a16:creationId xmlns:a16="http://schemas.microsoft.com/office/drawing/2014/main" id="{8FA27C47-8DC3-8119-0C95-7AD0767DB6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4230" y="2986232"/>
            <a:ext cx="360000" cy="360000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02D24A1-424B-2BD7-92FB-20EB7A81C4D5}"/>
              </a:ext>
            </a:extLst>
          </p:cNvPr>
          <p:cNvCxnSpPr>
            <a:cxnSpLocks/>
          </p:cNvCxnSpPr>
          <p:nvPr/>
        </p:nvCxnSpPr>
        <p:spPr>
          <a:xfrm>
            <a:off x="7235265" y="3565520"/>
            <a:ext cx="169283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3" name="Graphic 122" descr="Badge 4 with solid fill">
            <a:extLst>
              <a:ext uri="{FF2B5EF4-FFF2-40B4-BE49-F238E27FC236}">
                <a16:creationId xmlns:a16="http://schemas.microsoft.com/office/drawing/2014/main" id="{F50153FB-2021-4B55-012D-F105C42382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40568" y="2995523"/>
            <a:ext cx="360000" cy="36000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CC92D2C-BA6B-9DBB-D61A-A81B0F7AE906}"/>
              </a:ext>
            </a:extLst>
          </p:cNvPr>
          <p:cNvSpPr/>
          <p:nvPr/>
        </p:nvSpPr>
        <p:spPr>
          <a:xfrm>
            <a:off x="8149879" y="1234809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92D05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en-US" sz="1600" b="1" dirty="0">
                <a:solidFill>
                  <a:srgbClr val="002060"/>
                </a:solidFill>
              </a:rPr>
              <a:t>Webhook Receiver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sz="1600" dirty="0">
                <a:solidFill>
                  <a:srgbClr val="002060"/>
                </a:solidFill>
              </a:rPr>
              <a:t>(Callback URL)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64D621-D0B3-AC0D-F848-A60BA2C04893}"/>
              </a:ext>
            </a:extLst>
          </p:cNvPr>
          <p:cNvSpPr/>
          <p:nvPr/>
        </p:nvSpPr>
        <p:spPr>
          <a:xfrm>
            <a:off x="8149879" y="2113808"/>
            <a:ext cx="3192091" cy="255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Event notifications back to Client/App</a:t>
            </a:r>
            <a:endParaRPr lang="en-US" sz="105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CA7C310-E12D-52AA-1161-C234306B5528}"/>
              </a:ext>
            </a:extLst>
          </p:cNvPr>
          <p:cNvSpPr/>
          <p:nvPr/>
        </p:nvSpPr>
        <p:spPr>
          <a:xfrm>
            <a:off x="10747080" y="1144019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BA0D865-1903-EA91-D4C5-B29C55405391}"/>
              </a:ext>
            </a:extLst>
          </p:cNvPr>
          <p:cNvSpPr/>
          <p:nvPr/>
        </p:nvSpPr>
        <p:spPr>
          <a:xfrm>
            <a:off x="3401517" y="2910428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9BE7DF-A949-6BA0-F500-531C218DED17}"/>
              </a:ext>
            </a:extLst>
          </p:cNvPr>
          <p:cNvSpPr/>
          <p:nvPr/>
        </p:nvSpPr>
        <p:spPr>
          <a:xfrm>
            <a:off x="786762" y="3880171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OAuth2 • Rate limiting • API Keys • JWT validation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1B4139F-82A5-8E6F-4A9A-5AE98537F32F}"/>
              </a:ext>
            </a:extLst>
          </p:cNvPr>
          <p:cNvCxnSpPr>
            <a:cxnSpLocks/>
          </p:cNvCxnSpPr>
          <p:nvPr/>
        </p:nvCxnSpPr>
        <p:spPr>
          <a:xfrm flipH="1" flipV="1">
            <a:off x="8558901" y="1731185"/>
            <a:ext cx="1282395" cy="1264287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9BA9F1-51D4-3F26-5219-D439FB937E82}"/>
              </a:ext>
            </a:extLst>
          </p:cNvPr>
          <p:cNvCxnSpPr>
            <a:cxnSpLocks/>
          </p:cNvCxnSpPr>
          <p:nvPr/>
        </p:nvCxnSpPr>
        <p:spPr>
          <a:xfrm flipH="1">
            <a:off x="10485567" y="4155282"/>
            <a:ext cx="14026" cy="994738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26650A5A-5196-48AD-1797-470511B32F45}"/>
              </a:ext>
            </a:extLst>
          </p:cNvPr>
          <p:cNvSpPr/>
          <p:nvPr/>
        </p:nvSpPr>
        <p:spPr>
          <a:xfrm>
            <a:off x="10416274" y="4063630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AE1F49A-D3CD-CA45-4265-552EF9B14421}"/>
              </a:ext>
            </a:extLst>
          </p:cNvPr>
          <p:cNvCxnSpPr>
            <a:cxnSpLocks/>
            <a:stCxn id="16" idx="2"/>
          </p:cNvCxnSpPr>
          <p:nvPr/>
        </p:nvCxnSpPr>
        <p:spPr>
          <a:xfrm flipV="1">
            <a:off x="7705106" y="4164467"/>
            <a:ext cx="2473330" cy="860225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90B96FE6-9DD9-24EA-E3C8-40ED11A4530C}"/>
              </a:ext>
            </a:extLst>
          </p:cNvPr>
          <p:cNvSpPr/>
          <p:nvPr/>
        </p:nvSpPr>
        <p:spPr>
          <a:xfrm>
            <a:off x="7604056" y="4943980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229DF6-9480-787A-C2BA-84D98FC2B72E}"/>
              </a:ext>
            </a:extLst>
          </p:cNvPr>
          <p:cNvCxnSpPr>
            <a:cxnSpLocks/>
          </p:cNvCxnSpPr>
          <p:nvPr/>
        </p:nvCxnSpPr>
        <p:spPr>
          <a:xfrm flipV="1">
            <a:off x="3541938" y="4164513"/>
            <a:ext cx="5272878" cy="1072813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8DFBFF3F-5E91-F95B-F964-59AE749DC3AA}"/>
              </a:ext>
            </a:extLst>
          </p:cNvPr>
          <p:cNvSpPr/>
          <p:nvPr/>
        </p:nvSpPr>
        <p:spPr>
          <a:xfrm>
            <a:off x="7146302" y="3481503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757D0F0-F4C4-BEB3-4207-91CA52453579}"/>
              </a:ext>
            </a:extLst>
          </p:cNvPr>
          <p:cNvSpPr/>
          <p:nvPr/>
        </p:nvSpPr>
        <p:spPr>
          <a:xfrm>
            <a:off x="3409206" y="515322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448FB16-14C5-915A-1CDC-84C995910E3F}"/>
              </a:ext>
            </a:extLst>
          </p:cNvPr>
          <p:cNvSpPr/>
          <p:nvPr/>
        </p:nvSpPr>
        <p:spPr>
          <a:xfrm>
            <a:off x="9758985" y="290547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932F86-1CE0-1EEC-9C49-E33CBDCDE20D}"/>
              </a:ext>
            </a:extLst>
          </p:cNvPr>
          <p:cNvSpPr txBox="1"/>
          <p:nvPr/>
        </p:nvSpPr>
        <p:spPr>
          <a:xfrm>
            <a:off x="3487453" y="1954202"/>
            <a:ext cx="1092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OAuth2 token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A9B1E9-5794-B764-8A12-343E068D01E6}"/>
              </a:ext>
            </a:extLst>
          </p:cNvPr>
          <p:cNvSpPr txBox="1"/>
          <p:nvPr/>
        </p:nvSpPr>
        <p:spPr>
          <a:xfrm>
            <a:off x="3355549" y="3667864"/>
            <a:ext cx="7494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Enqueue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1EB058-F742-ED7C-14D5-A1982456649A}"/>
              </a:ext>
            </a:extLst>
          </p:cNvPr>
          <p:cNvSpPr txBox="1"/>
          <p:nvPr/>
        </p:nvSpPr>
        <p:spPr>
          <a:xfrm>
            <a:off x="7004304" y="3253794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Dequeue</a:t>
            </a:r>
            <a:endParaRPr lang="en-US" b="1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A55B90-A4B9-11D7-6A75-563F8ECBD9D7}"/>
              </a:ext>
            </a:extLst>
          </p:cNvPr>
          <p:cNvCxnSpPr>
            <a:cxnSpLocks/>
          </p:cNvCxnSpPr>
          <p:nvPr/>
        </p:nvCxnSpPr>
        <p:spPr>
          <a:xfrm>
            <a:off x="572539" y="6261671"/>
            <a:ext cx="959938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8D0BF09-932F-006B-8BC4-07E716394305}"/>
              </a:ext>
            </a:extLst>
          </p:cNvPr>
          <p:cNvSpPr txBox="1"/>
          <p:nvPr/>
        </p:nvSpPr>
        <p:spPr>
          <a:xfrm>
            <a:off x="1532477" y="6107782"/>
            <a:ext cx="1325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Acknowledged</a:t>
            </a:r>
          </a:p>
        </p:txBody>
      </p:sp>
      <p:pic>
        <p:nvPicPr>
          <p:cNvPr id="64" name="Picture 63" descr="A green and black text&#10;&#10;AI-generated content may be incorrect.">
            <a:extLst>
              <a:ext uri="{FF2B5EF4-FFF2-40B4-BE49-F238E27FC236}">
                <a16:creationId xmlns:a16="http://schemas.microsoft.com/office/drawing/2014/main" id="{CE02E4A3-D91E-EC04-9698-C0EAAABBD6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68" y="453944"/>
            <a:ext cx="1223633" cy="444592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4C083E29-A63A-9E75-3272-5280AE8C6E58}"/>
              </a:ext>
            </a:extLst>
          </p:cNvPr>
          <p:cNvSpPr txBox="1"/>
          <p:nvPr/>
        </p:nvSpPr>
        <p:spPr>
          <a:xfrm>
            <a:off x="9848985" y="2726461"/>
            <a:ext cx="1079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Webhook POST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53A618-5AD4-7839-F950-4B924A7260DE}"/>
              </a:ext>
            </a:extLst>
          </p:cNvPr>
          <p:cNvSpPr txBox="1"/>
          <p:nvPr/>
        </p:nvSpPr>
        <p:spPr>
          <a:xfrm>
            <a:off x="7439699" y="1635098"/>
            <a:ext cx="10871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Callback Client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FAC2DF-4124-DA32-6B76-07B7E1F908F6}"/>
              </a:ext>
            </a:extLst>
          </p:cNvPr>
          <p:cNvSpPr txBox="1"/>
          <p:nvPr/>
        </p:nvSpPr>
        <p:spPr>
          <a:xfrm>
            <a:off x="9782868" y="4223760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Root to S4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2620B5-0154-4547-BB65-8982BCC5BA16}"/>
              </a:ext>
            </a:extLst>
          </p:cNvPr>
          <p:cNvSpPr txBox="1"/>
          <p:nvPr/>
        </p:nvSpPr>
        <p:spPr>
          <a:xfrm>
            <a:off x="10793869" y="4953093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ACK S4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EB79F6-26A9-87B1-CC51-52B41D06E035}"/>
              </a:ext>
            </a:extLst>
          </p:cNvPr>
          <p:cNvSpPr txBox="1"/>
          <p:nvPr/>
        </p:nvSpPr>
        <p:spPr>
          <a:xfrm>
            <a:off x="8569203" y="4093817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Route to POS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9FB42F-EC12-8FB4-5870-9EF94928F47E}"/>
              </a:ext>
            </a:extLst>
          </p:cNvPr>
          <p:cNvSpPr txBox="1"/>
          <p:nvPr/>
        </p:nvSpPr>
        <p:spPr>
          <a:xfrm>
            <a:off x="5864712" y="4105862"/>
            <a:ext cx="1263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Route to 3-rd Party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C54476-00AE-AEDA-4896-8A0FEE83F3CC}"/>
              </a:ext>
            </a:extLst>
          </p:cNvPr>
          <p:cNvSpPr txBox="1"/>
          <p:nvPr/>
        </p:nvSpPr>
        <p:spPr>
          <a:xfrm>
            <a:off x="7710991" y="4934436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ACK POS</a:t>
            </a:r>
            <a:endParaRPr lang="en-US" b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F6485C-DFBC-94C2-0380-65032F60244D}"/>
              </a:ext>
            </a:extLst>
          </p:cNvPr>
          <p:cNvCxnSpPr>
            <a:cxnSpLocks/>
          </p:cNvCxnSpPr>
          <p:nvPr/>
        </p:nvCxnSpPr>
        <p:spPr>
          <a:xfrm flipH="1" flipV="1">
            <a:off x="3242258" y="1645971"/>
            <a:ext cx="5244908" cy="1648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8F13557-995A-8052-41CC-074ABD4A7CE1}"/>
              </a:ext>
            </a:extLst>
          </p:cNvPr>
          <p:cNvSpPr txBox="1"/>
          <p:nvPr/>
        </p:nvSpPr>
        <p:spPr>
          <a:xfrm>
            <a:off x="3084452" y="5313129"/>
            <a:ext cx="10262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ACK 3-rd Party</a:t>
            </a:r>
            <a:endParaRPr lang="en-US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2315E7E-34D8-5882-7B3D-ED9B08185DFF}"/>
              </a:ext>
            </a:extLst>
          </p:cNvPr>
          <p:cNvSpPr txBox="1"/>
          <p:nvPr/>
        </p:nvSpPr>
        <p:spPr>
          <a:xfrm>
            <a:off x="9258478" y="6118670"/>
            <a:ext cx="241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(Manually controlled)</a:t>
            </a:r>
            <a:endParaRPr lang="en-US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6BA0680-5921-1685-E1A0-216EBBA69E1F}"/>
              </a:ext>
            </a:extLst>
          </p:cNvPr>
          <p:cNvSpPr/>
          <p:nvPr/>
        </p:nvSpPr>
        <p:spPr>
          <a:xfrm>
            <a:off x="8409760" y="1584308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5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1.85185E-6 L 0.00039 0.1675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838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285E-17 3.7037E-7 L -0.00065 0.1872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44444E-6 L 0.12396 0.0009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46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7.40741E-7 L 0.09362 0.0002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85185E-6 L 0.1332 -0.00162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54" y="-93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07407E-6 L 0.11432 -0.00023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1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7.40741E-7 L -0.42865 0.14954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32" y="7477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-0.35416 0.12268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08" y="6134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-0.1754 0.11227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45" y="5718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-0.18125 0.10926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5463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44444E-6 L -0.00313 0.12453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6227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6 L -0.00117 0.10231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7037E-6 L 0.19622 -0.13056 " pathEditMode="relative" rAng="0" ptsTypes="AA">
                                      <p:cBhvr>
                                        <p:cTn id="60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53" y="-6574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81481E-6 L 2.08333E-7 -0.13888 " pathEditMode="relative" rAng="0" ptsTypes="AA">
                                      <p:cBhvr>
                                        <p:cTn id="62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4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3.7037E-6 L -0.00026 -0.11505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576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43268 -0.16018 " pathEditMode="relative" rAng="0" ptsTypes="AA">
                                      <p:cBhvr>
                                        <p:cTn id="66" dur="1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28" y="-8009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48148E-6 L 0.20013 -0.13171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54" y="-662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59259E-6 L 0.48333 -0.18981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60" y="-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-0.11068 -0.19282 " pathEditMode="relative" rAng="0" ptsTypes="AA">
                                      <p:cBhvr>
                                        <p:cTn id="73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12" y="-7731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11744 -0.19722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72" y="-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96296E-6 L -0.42058 -0.00579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55" y="-301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07407E-6 L -0.29701 -5.55112E-17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1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100" grpId="0" animBg="1"/>
      <p:bldP spid="101" grpId="0" animBg="1"/>
      <p:bldP spid="102" grpId="0" animBg="1"/>
      <p:bldP spid="103" grpId="0" animBg="1"/>
      <p:bldP spid="49" grpId="0" animBg="1"/>
      <p:bldP spid="56" grpId="0" animBg="1"/>
      <p:bldP spid="79" grpId="0" animBg="1"/>
      <p:bldP spid="57" grpId="0" animBg="1"/>
      <p:bldP spid="78" grpId="0" animBg="1"/>
      <p:bldP spid="43" grpId="0"/>
      <p:bldP spid="45" grpId="0"/>
      <p:bldP spid="65" grpId="0"/>
      <p:bldP spid="66" grpId="0"/>
      <p:bldP spid="67" grpId="0"/>
      <p:bldP spid="68" grpId="0"/>
      <p:bldP spid="70" grpId="0"/>
      <p:bldP spid="71" grpId="0"/>
      <p:bldP spid="73" grpId="0"/>
      <p:bldP spid="74" grpId="0"/>
      <p:bldP spid="6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B1949-8C8E-DA51-766A-34064DAF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5563C1-288E-9089-727B-C2463E7379B0}"/>
              </a:ext>
            </a:extLst>
          </p:cNvPr>
          <p:cNvSpPr/>
          <p:nvPr/>
        </p:nvSpPr>
        <p:spPr>
          <a:xfrm>
            <a:off x="500743" y="2793670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4650906-C927-B44C-BEE0-511C589055D1}"/>
              </a:ext>
            </a:extLst>
          </p:cNvPr>
          <p:cNvSpPr/>
          <p:nvPr/>
        </p:nvSpPr>
        <p:spPr>
          <a:xfrm>
            <a:off x="8191994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en-US" sz="1600" b="1" dirty="0">
                <a:solidFill>
                  <a:srgbClr val="002060"/>
                </a:solidFill>
              </a:rPr>
              <a:t>SAP</a:t>
            </a:r>
            <a:r>
              <a:rPr lang="en-US" sz="1600" dirty="0">
                <a:solidFill>
                  <a:srgbClr val="002060"/>
                </a:solidFill>
              </a:rPr>
              <a:t> Cloud Integration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3192CE2-547A-F13C-8EBC-997EBAAC2793}"/>
              </a:ext>
            </a:extLst>
          </p:cNvPr>
          <p:cNvSpPr/>
          <p:nvPr/>
        </p:nvSpPr>
        <p:spPr>
          <a:xfrm>
            <a:off x="786762" y="2995505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API</a:t>
            </a:r>
            <a:r>
              <a:rPr lang="en-US" sz="1600" dirty="0">
                <a:solidFill>
                  <a:srgbClr val="002060"/>
                </a:solidFill>
              </a:rPr>
              <a:t> Gateway (SAP </a:t>
            </a:r>
            <a:r>
              <a:rPr lang="en-US" sz="1600" b="1" dirty="0">
                <a:solidFill>
                  <a:srgbClr val="002060"/>
                </a:solidFill>
              </a:rPr>
              <a:t>API Mgmt</a:t>
            </a:r>
            <a:r>
              <a:rPr lang="en-US" sz="1600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57341-61A3-D830-3187-33E286901DF1}"/>
              </a:ext>
            </a:extLst>
          </p:cNvPr>
          <p:cNvSpPr/>
          <p:nvPr/>
        </p:nvSpPr>
        <p:spPr>
          <a:xfrm>
            <a:off x="500743" y="1048076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C9B521-351A-2879-198C-AB8E94FC84E4}"/>
              </a:ext>
            </a:extLst>
          </p:cNvPr>
          <p:cNvSpPr/>
          <p:nvPr/>
        </p:nvSpPr>
        <p:spPr>
          <a:xfrm>
            <a:off x="500743" y="4566062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2B37E65-B992-447F-E994-DC15AE9B7BFA}"/>
              </a:ext>
            </a:extLst>
          </p:cNvPr>
          <p:cNvSpPr/>
          <p:nvPr/>
        </p:nvSpPr>
        <p:spPr>
          <a:xfrm>
            <a:off x="4486893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E9713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a-DK" sz="1600" b="1" dirty="0">
                <a:solidFill>
                  <a:srgbClr val="002060"/>
                </a:solidFill>
              </a:rPr>
              <a:t>Async Queue </a:t>
            </a:r>
            <a:br>
              <a:rPr lang="da-DK" sz="1600" dirty="0">
                <a:solidFill>
                  <a:srgbClr val="002060"/>
                </a:solidFill>
              </a:rPr>
            </a:br>
            <a:r>
              <a:rPr lang="da-DK" sz="1600" dirty="0">
                <a:solidFill>
                  <a:srgbClr val="002060"/>
                </a:solidFill>
              </a:rPr>
              <a:t>(Event/Message Store)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A338E-4FFD-AC93-782E-3132B7561684}"/>
              </a:ext>
            </a:extLst>
          </p:cNvPr>
          <p:cNvSpPr txBox="1"/>
          <p:nvPr/>
        </p:nvSpPr>
        <p:spPr>
          <a:xfrm>
            <a:off x="500743" y="463138"/>
            <a:ext cx="11190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API</a:t>
            </a:r>
            <a:r>
              <a:rPr lang="en-US" sz="2000" dirty="0"/>
              <a:t>-Driven Asynchronous Integration with </a:t>
            </a:r>
            <a:r>
              <a:rPr lang="en-US" sz="2000" b="1" dirty="0"/>
              <a:t>SAP API Management </a:t>
            </a:r>
            <a:r>
              <a:rPr lang="en-US" sz="2000" dirty="0"/>
              <a:t>&amp; </a:t>
            </a:r>
            <a:r>
              <a:rPr lang="en-US" sz="2000" b="1" dirty="0"/>
              <a:t>SAP CI</a:t>
            </a:r>
            <a:endParaRPr lang="en-US" sz="2400" b="1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AE5B1A7-6F5A-89EB-7F02-D5CAD2DDB1CA}"/>
              </a:ext>
            </a:extLst>
          </p:cNvPr>
          <p:cNvSpPr/>
          <p:nvPr/>
        </p:nvSpPr>
        <p:spPr>
          <a:xfrm>
            <a:off x="8191994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</a:rPr>
              <a:t>SAP S/4HANA </a:t>
            </a:r>
            <a:r>
              <a:rPr lang="en-US" sz="1600" dirty="0">
                <a:solidFill>
                  <a:srgbClr val="002060"/>
                </a:solidFill>
              </a:rPr>
              <a:t>(IDoc / OData)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5AB16B-6278-D1D1-0A78-4F1018F063FC}"/>
              </a:ext>
            </a:extLst>
          </p:cNvPr>
          <p:cNvSpPr/>
          <p:nvPr/>
        </p:nvSpPr>
        <p:spPr>
          <a:xfrm>
            <a:off x="44868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E‑commerce / POS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0A70B5E-E774-EC38-33BA-DF5D3595CA24}"/>
              </a:ext>
            </a:extLst>
          </p:cNvPr>
          <p:cNvSpPr/>
          <p:nvPr/>
        </p:nvSpPr>
        <p:spPr>
          <a:xfrm>
            <a:off x="7817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3rd‑Party Service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41E351D-1151-6B66-BADD-560F61746BED}"/>
              </a:ext>
            </a:extLst>
          </p:cNvPr>
          <p:cNvSpPr/>
          <p:nvPr/>
        </p:nvSpPr>
        <p:spPr>
          <a:xfrm>
            <a:off x="807915" y="1234809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92D05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Client / App (API Consumer)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3A4F7C-3996-E3C6-A531-A530FC2609E0}"/>
              </a:ext>
            </a:extLst>
          </p:cNvPr>
          <p:cNvSpPr/>
          <p:nvPr/>
        </p:nvSpPr>
        <p:spPr>
          <a:xfrm>
            <a:off x="807915" y="2039278"/>
            <a:ext cx="3192091" cy="3298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Sends REST requests • Receives</a:t>
            </a:r>
            <a:br>
              <a:rPr lang="en-US" sz="1050" dirty="0"/>
            </a:br>
            <a:r>
              <a:rPr lang="en-US" sz="1050" dirty="0"/>
              <a:t>webhook callbacks</a:t>
            </a:r>
            <a:endParaRPr lang="en-US" sz="10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C26C764-1869-807C-E71F-B388431F5F71}"/>
              </a:ext>
            </a:extLst>
          </p:cNvPr>
          <p:cNvSpPr/>
          <p:nvPr/>
        </p:nvSpPr>
        <p:spPr>
          <a:xfrm>
            <a:off x="3405116" y="1144019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E34D6C3-2A27-9365-9C17-81AD5E682FF1}"/>
              </a:ext>
            </a:extLst>
          </p:cNvPr>
          <p:cNvSpPr/>
          <p:nvPr/>
        </p:nvSpPr>
        <p:spPr>
          <a:xfrm>
            <a:off x="7105933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019163F-A79B-5058-BFBC-92326E809BEB}"/>
              </a:ext>
            </a:extLst>
          </p:cNvPr>
          <p:cNvSpPr/>
          <p:nvPr/>
        </p:nvSpPr>
        <p:spPr>
          <a:xfrm>
            <a:off x="10806750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D521E2A-135F-3963-D250-C73DFFCB6BF8}"/>
              </a:ext>
            </a:extLst>
          </p:cNvPr>
          <p:cNvSpPr/>
          <p:nvPr/>
        </p:nvSpPr>
        <p:spPr>
          <a:xfrm>
            <a:off x="10806749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8F236C2-6376-E71F-C3AC-EB23FA71A9F4}"/>
              </a:ext>
            </a:extLst>
          </p:cNvPr>
          <p:cNvSpPr/>
          <p:nvPr/>
        </p:nvSpPr>
        <p:spPr>
          <a:xfrm>
            <a:off x="3405115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8C31AED-4737-8CEC-2337-0A432D8BA0AE}"/>
              </a:ext>
            </a:extLst>
          </p:cNvPr>
          <p:cNvSpPr/>
          <p:nvPr/>
        </p:nvSpPr>
        <p:spPr>
          <a:xfrm>
            <a:off x="7101650" y="4688802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117814-13A7-2C60-494A-152A1352BF49}"/>
              </a:ext>
            </a:extLst>
          </p:cNvPr>
          <p:cNvSpPr/>
          <p:nvPr/>
        </p:nvSpPr>
        <p:spPr>
          <a:xfrm>
            <a:off x="4486893" y="3886154"/>
            <a:ext cx="3218213" cy="255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Durable queue • Backoff retries • Idempotency key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7A6EAE-39D8-CD4E-DCD1-A81E58A9B5FD}"/>
              </a:ext>
            </a:extLst>
          </p:cNvPr>
          <p:cNvSpPr/>
          <p:nvPr/>
        </p:nvSpPr>
        <p:spPr>
          <a:xfrm>
            <a:off x="7817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Bank / Tax / Logistics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E63676D-EA18-468C-091A-D0CDD31E24AE}"/>
              </a:ext>
            </a:extLst>
          </p:cNvPr>
          <p:cNvSpPr/>
          <p:nvPr/>
        </p:nvSpPr>
        <p:spPr>
          <a:xfrm>
            <a:off x="44868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Real‑time stock &amp; pricing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157604-0137-02EA-462C-244641123D58}"/>
              </a:ext>
            </a:extLst>
          </p:cNvPr>
          <p:cNvSpPr/>
          <p:nvPr/>
        </p:nvSpPr>
        <p:spPr>
          <a:xfrm>
            <a:off x="8191994" y="3886154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Mapping • Validation • Routing • Orchestration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BD7F1C-71AF-EF74-87CA-B7BE27EBB7CE}"/>
              </a:ext>
            </a:extLst>
          </p:cNvPr>
          <p:cNvSpPr/>
          <p:nvPr/>
        </p:nvSpPr>
        <p:spPr>
          <a:xfrm>
            <a:off x="8191994" y="5658546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ORDERS05 • A2X</a:t>
            </a:r>
            <a:endParaRPr lang="en-US" sz="12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A0C7454-A16A-E698-CE8D-ED26D75226C3}"/>
              </a:ext>
            </a:extLst>
          </p:cNvPr>
          <p:cNvCxnSpPr>
            <a:cxnSpLocks/>
          </p:cNvCxnSpPr>
          <p:nvPr/>
        </p:nvCxnSpPr>
        <p:spPr>
          <a:xfrm>
            <a:off x="3409206" y="2071032"/>
            <a:ext cx="0" cy="1182762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BF13413B-C441-71D0-9CC1-432E3A1F9B3B}"/>
              </a:ext>
            </a:extLst>
          </p:cNvPr>
          <p:cNvSpPr/>
          <p:nvPr/>
        </p:nvSpPr>
        <p:spPr>
          <a:xfrm>
            <a:off x="3319206" y="1980986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6D78071-A221-2B91-4B72-03CB5D8F3D87}"/>
              </a:ext>
            </a:extLst>
          </p:cNvPr>
          <p:cNvCxnSpPr>
            <a:cxnSpLocks/>
          </p:cNvCxnSpPr>
          <p:nvPr/>
        </p:nvCxnSpPr>
        <p:spPr>
          <a:xfrm flipH="1" flipV="1">
            <a:off x="3260890" y="1663930"/>
            <a:ext cx="5244908" cy="1648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EFFC1E9-79C2-BD94-28FA-55E4702ED1DC}"/>
              </a:ext>
            </a:extLst>
          </p:cNvPr>
          <p:cNvCxnSpPr>
            <a:cxnSpLocks/>
          </p:cNvCxnSpPr>
          <p:nvPr/>
        </p:nvCxnSpPr>
        <p:spPr>
          <a:xfrm>
            <a:off x="3781270" y="3565520"/>
            <a:ext cx="1609189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16252B3-DFC8-EB0B-29D4-734F3E086E8B}"/>
              </a:ext>
            </a:extLst>
          </p:cNvPr>
          <p:cNvCxnSpPr>
            <a:cxnSpLocks/>
          </p:cNvCxnSpPr>
          <p:nvPr/>
        </p:nvCxnSpPr>
        <p:spPr>
          <a:xfrm flipH="1">
            <a:off x="3017575" y="4096904"/>
            <a:ext cx="5189938" cy="100948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4F28D61-CF10-5225-4B00-B1653792BEB8}"/>
              </a:ext>
            </a:extLst>
          </p:cNvPr>
          <p:cNvCxnSpPr>
            <a:cxnSpLocks/>
          </p:cNvCxnSpPr>
          <p:nvPr/>
        </p:nvCxnSpPr>
        <p:spPr>
          <a:xfrm flipH="1">
            <a:off x="7314906" y="4148516"/>
            <a:ext cx="2209322" cy="764854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A039659-D75C-859D-3137-BE5181A3CD12}"/>
              </a:ext>
            </a:extLst>
          </p:cNvPr>
          <p:cNvCxnSpPr>
            <a:cxnSpLocks/>
          </p:cNvCxnSpPr>
          <p:nvPr/>
        </p:nvCxnSpPr>
        <p:spPr>
          <a:xfrm flipH="1" flipV="1">
            <a:off x="10735613" y="4095858"/>
            <a:ext cx="2899" cy="1013433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B0D3F6C2-AC67-96FB-6658-517AEDF66BA6}"/>
              </a:ext>
            </a:extLst>
          </p:cNvPr>
          <p:cNvSpPr/>
          <p:nvPr/>
        </p:nvSpPr>
        <p:spPr>
          <a:xfrm>
            <a:off x="3711927" y="3463177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C647955-8238-355D-6ED8-69554432CDC2}"/>
              </a:ext>
            </a:extLst>
          </p:cNvPr>
          <p:cNvSpPr/>
          <p:nvPr/>
        </p:nvSpPr>
        <p:spPr>
          <a:xfrm>
            <a:off x="8135390" y="4002839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8A56107-B1C7-4106-6E83-59181F9417D0}"/>
              </a:ext>
            </a:extLst>
          </p:cNvPr>
          <p:cNvSpPr/>
          <p:nvPr/>
        </p:nvSpPr>
        <p:spPr>
          <a:xfrm>
            <a:off x="9399934" y="4045105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06F55F3-CA0A-8A93-127A-C815CDE612A3}"/>
              </a:ext>
            </a:extLst>
          </p:cNvPr>
          <p:cNvSpPr/>
          <p:nvPr/>
        </p:nvSpPr>
        <p:spPr>
          <a:xfrm>
            <a:off x="10642269" y="5019314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Graphic 114" descr="Badge 1 with solid fill">
            <a:extLst>
              <a:ext uri="{FF2B5EF4-FFF2-40B4-BE49-F238E27FC236}">
                <a16:creationId xmlns:a16="http://schemas.microsoft.com/office/drawing/2014/main" id="{112EA369-86A0-B1BE-F32B-D2AEDCBC5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6652" y="1223977"/>
            <a:ext cx="360000" cy="360000"/>
          </a:xfrm>
          <a:prstGeom prst="rect">
            <a:avLst/>
          </a:prstGeom>
        </p:spPr>
      </p:pic>
      <p:pic>
        <p:nvPicPr>
          <p:cNvPr id="117" name="Graphic 116" descr="Badge with solid fill">
            <a:extLst>
              <a:ext uri="{FF2B5EF4-FFF2-40B4-BE49-F238E27FC236}">
                <a16:creationId xmlns:a16="http://schemas.microsoft.com/office/drawing/2014/main" id="{1C464A0F-5A56-9CCF-B23D-E3E0DE2C5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129" y="2997656"/>
            <a:ext cx="360000" cy="360000"/>
          </a:xfrm>
          <a:prstGeom prst="rect">
            <a:avLst/>
          </a:prstGeom>
        </p:spPr>
      </p:pic>
      <p:pic>
        <p:nvPicPr>
          <p:cNvPr id="119" name="Graphic 118" descr="Badge 3 with solid fill">
            <a:extLst>
              <a:ext uri="{FF2B5EF4-FFF2-40B4-BE49-F238E27FC236}">
                <a16:creationId xmlns:a16="http://schemas.microsoft.com/office/drawing/2014/main" id="{1C724BF0-4646-498C-C487-A3B2C7B256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4230" y="2986232"/>
            <a:ext cx="360000" cy="360000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A738585-00D2-4F8C-E605-262DA461CB38}"/>
              </a:ext>
            </a:extLst>
          </p:cNvPr>
          <p:cNvCxnSpPr>
            <a:cxnSpLocks/>
          </p:cNvCxnSpPr>
          <p:nvPr/>
        </p:nvCxnSpPr>
        <p:spPr>
          <a:xfrm>
            <a:off x="7235265" y="3565520"/>
            <a:ext cx="1692835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3" name="Graphic 122" descr="Badge 4 with solid fill">
            <a:extLst>
              <a:ext uri="{FF2B5EF4-FFF2-40B4-BE49-F238E27FC236}">
                <a16:creationId xmlns:a16="http://schemas.microsoft.com/office/drawing/2014/main" id="{CCB1D5D5-E86B-BCB0-19BA-2BBDB02421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40568" y="2995523"/>
            <a:ext cx="360000" cy="36000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062F1E3-7B86-C709-F5D6-9591C026BBA0}"/>
              </a:ext>
            </a:extLst>
          </p:cNvPr>
          <p:cNvSpPr/>
          <p:nvPr/>
        </p:nvSpPr>
        <p:spPr>
          <a:xfrm>
            <a:off x="8149879" y="1234809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92D05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en-US" sz="1600" b="1" dirty="0">
                <a:solidFill>
                  <a:srgbClr val="002060"/>
                </a:solidFill>
              </a:rPr>
              <a:t>Webhook Receiver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sz="1600" dirty="0">
                <a:solidFill>
                  <a:srgbClr val="002060"/>
                </a:solidFill>
              </a:rPr>
              <a:t>(Callback URL)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3A3555-8AB9-34FA-F072-BB59E17086A7}"/>
              </a:ext>
            </a:extLst>
          </p:cNvPr>
          <p:cNvSpPr/>
          <p:nvPr/>
        </p:nvSpPr>
        <p:spPr>
          <a:xfrm>
            <a:off x="8149879" y="2113808"/>
            <a:ext cx="3192091" cy="255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Event notifications back to Client/App</a:t>
            </a:r>
            <a:endParaRPr lang="en-US" sz="105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1E073EA-74BD-6715-5D25-877A2660545E}"/>
              </a:ext>
            </a:extLst>
          </p:cNvPr>
          <p:cNvSpPr/>
          <p:nvPr/>
        </p:nvSpPr>
        <p:spPr>
          <a:xfrm>
            <a:off x="10747080" y="1144019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F5F3A4-52D2-AD65-1382-205E5D7305B3}"/>
              </a:ext>
            </a:extLst>
          </p:cNvPr>
          <p:cNvSpPr/>
          <p:nvPr/>
        </p:nvSpPr>
        <p:spPr>
          <a:xfrm>
            <a:off x="3401517" y="2910428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D925FD-F7F0-DA9D-C9FC-4042234F17ED}"/>
              </a:ext>
            </a:extLst>
          </p:cNvPr>
          <p:cNvSpPr/>
          <p:nvPr/>
        </p:nvSpPr>
        <p:spPr>
          <a:xfrm>
            <a:off x="786762" y="3880171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OAuth2 • Rate limiting • API Keys • JWT validation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3E09751-9846-5115-319D-69C623131FD7}"/>
              </a:ext>
            </a:extLst>
          </p:cNvPr>
          <p:cNvCxnSpPr>
            <a:cxnSpLocks/>
          </p:cNvCxnSpPr>
          <p:nvPr/>
        </p:nvCxnSpPr>
        <p:spPr>
          <a:xfrm flipH="1" flipV="1">
            <a:off x="8558901" y="1731185"/>
            <a:ext cx="1282395" cy="1264287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2F628B6-7729-329C-1351-B4B6DBE75CCA}"/>
              </a:ext>
            </a:extLst>
          </p:cNvPr>
          <p:cNvCxnSpPr>
            <a:cxnSpLocks/>
          </p:cNvCxnSpPr>
          <p:nvPr/>
        </p:nvCxnSpPr>
        <p:spPr>
          <a:xfrm flipH="1">
            <a:off x="10485567" y="4155282"/>
            <a:ext cx="14026" cy="994738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F1B2849B-6594-F7C6-D7BA-B2834C0561CB}"/>
              </a:ext>
            </a:extLst>
          </p:cNvPr>
          <p:cNvSpPr/>
          <p:nvPr/>
        </p:nvSpPr>
        <p:spPr>
          <a:xfrm>
            <a:off x="10416274" y="4063630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8A37F66-C11F-D4A9-05D8-DC8EE09BB448}"/>
              </a:ext>
            </a:extLst>
          </p:cNvPr>
          <p:cNvCxnSpPr>
            <a:cxnSpLocks/>
            <a:stCxn id="16" idx="2"/>
          </p:cNvCxnSpPr>
          <p:nvPr/>
        </p:nvCxnSpPr>
        <p:spPr>
          <a:xfrm flipV="1">
            <a:off x="7705106" y="4164467"/>
            <a:ext cx="2473330" cy="860225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60DCA3C1-97DC-50DF-80AF-11837AB7B8DF}"/>
              </a:ext>
            </a:extLst>
          </p:cNvPr>
          <p:cNvSpPr/>
          <p:nvPr/>
        </p:nvSpPr>
        <p:spPr>
          <a:xfrm>
            <a:off x="7604056" y="4943980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277E9B1-E345-D8FB-E3A0-7E493E03EFD1}"/>
              </a:ext>
            </a:extLst>
          </p:cNvPr>
          <p:cNvCxnSpPr>
            <a:cxnSpLocks/>
          </p:cNvCxnSpPr>
          <p:nvPr/>
        </p:nvCxnSpPr>
        <p:spPr>
          <a:xfrm flipV="1">
            <a:off x="3541938" y="4164513"/>
            <a:ext cx="5272878" cy="1072813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497FA5CA-3BFD-F52C-C15F-7D31F2F00720}"/>
              </a:ext>
            </a:extLst>
          </p:cNvPr>
          <p:cNvSpPr/>
          <p:nvPr/>
        </p:nvSpPr>
        <p:spPr>
          <a:xfrm>
            <a:off x="7146302" y="3481503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A5CDC57-D103-018F-271F-EBC8B47589E2}"/>
              </a:ext>
            </a:extLst>
          </p:cNvPr>
          <p:cNvSpPr/>
          <p:nvPr/>
        </p:nvSpPr>
        <p:spPr>
          <a:xfrm>
            <a:off x="3409206" y="515322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14D6580-2C58-246C-FB0B-EC9EE5C2D6CB}"/>
              </a:ext>
            </a:extLst>
          </p:cNvPr>
          <p:cNvSpPr/>
          <p:nvPr/>
        </p:nvSpPr>
        <p:spPr>
          <a:xfrm>
            <a:off x="9758985" y="290547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73C2B02-D48E-36CC-14FC-073F19B932F7}"/>
              </a:ext>
            </a:extLst>
          </p:cNvPr>
          <p:cNvSpPr/>
          <p:nvPr/>
        </p:nvSpPr>
        <p:spPr>
          <a:xfrm>
            <a:off x="8409760" y="1584308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1845C4-399E-6E50-120E-000A39D06FEC}"/>
              </a:ext>
            </a:extLst>
          </p:cNvPr>
          <p:cNvSpPr txBox="1"/>
          <p:nvPr/>
        </p:nvSpPr>
        <p:spPr>
          <a:xfrm>
            <a:off x="3487453" y="1954202"/>
            <a:ext cx="1092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OAuth2 token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682824-1A91-A4F0-E3E5-C65AD244A319}"/>
              </a:ext>
            </a:extLst>
          </p:cNvPr>
          <p:cNvSpPr txBox="1"/>
          <p:nvPr/>
        </p:nvSpPr>
        <p:spPr>
          <a:xfrm>
            <a:off x="3355549" y="3667864"/>
            <a:ext cx="7494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Enqueue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C36E14-D232-310C-0780-05000E7F84ED}"/>
              </a:ext>
            </a:extLst>
          </p:cNvPr>
          <p:cNvSpPr txBox="1"/>
          <p:nvPr/>
        </p:nvSpPr>
        <p:spPr>
          <a:xfrm>
            <a:off x="7004304" y="3253794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Dequeue</a:t>
            </a:r>
            <a:endParaRPr lang="en-US" b="1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811EA2-49B3-B71F-14D9-F5D5EEB375EF}"/>
              </a:ext>
            </a:extLst>
          </p:cNvPr>
          <p:cNvCxnSpPr>
            <a:cxnSpLocks/>
          </p:cNvCxnSpPr>
          <p:nvPr/>
        </p:nvCxnSpPr>
        <p:spPr>
          <a:xfrm>
            <a:off x="572539" y="6261671"/>
            <a:ext cx="959938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729CF63-0EEE-3306-B627-3DA886DA749A}"/>
              </a:ext>
            </a:extLst>
          </p:cNvPr>
          <p:cNvSpPr txBox="1"/>
          <p:nvPr/>
        </p:nvSpPr>
        <p:spPr>
          <a:xfrm>
            <a:off x="1532477" y="6107782"/>
            <a:ext cx="1325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Acknowledged</a:t>
            </a:r>
          </a:p>
        </p:txBody>
      </p:sp>
      <p:pic>
        <p:nvPicPr>
          <p:cNvPr id="64" name="Picture 63" descr="A green and black text&#10;&#10;AI-generated content may be incorrect.">
            <a:extLst>
              <a:ext uri="{FF2B5EF4-FFF2-40B4-BE49-F238E27FC236}">
                <a16:creationId xmlns:a16="http://schemas.microsoft.com/office/drawing/2014/main" id="{371F2E98-16A3-2ADA-7B90-A59A08D552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68" y="453944"/>
            <a:ext cx="1223633" cy="444592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28D567F5-F1F2-729D-8A70-E34F3C6F6A06}"/>
              </a:ext>
            </a:extLst>
          </p:cNvPr>
          <p:cNvSpPr txBox="1"/>
          <p:nvPr/>
        </p:nvSpPr>
        <p:spPr>
          <a:xfrm>
            <a:off x="9848985" y="2726461"/>
            <a:ext cx="1079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Webhook POST</a:t>
            </a:r>
            <a:endParaRPr 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CE2230-1E66-8F8A-C416-8663929A5443}"/>
              </a:ext>
            </a:extLst>
          </p:cNvPr>
          <p:cNvSpPr txBox="1"/>
          <p:nvPr/>
        </p:nvSpPr>
        <p:spPr>
          <a:xfrm>
            <a:off x="7439699" y="1635098"/>
            <a:ext cx="10871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Callback Client</a:t>
            </a:r>
            <a:endParaRPr 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538F0D-B1F3-07C8-73B2-998052D93A08}"/>
              </a:ext>
            </a:extLst>
          </p:cNvPr>
          <p:cNvSpPr txBox="1"/>
          <p:nvPr/>
        </p:nvSpPr>
        <p:spPr>
          <a:xfrm>
            <a:off x="9782868" y="4223760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Root to S4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1E1431-9434-A1B5-0771-F9CC1FC0F515}"/>
              </a:ext>
            </a:extLst>
          </p:cNvPr>
          <p:cNvSpPr txBox="1"/>
          <p:nvPr/>
        </p:nvSpPr>
        <p:spPr>
          <a:xfrm>
            <a:off x="10793869" y="4953093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ACK S4</a:t>
            </a:r>
            <a:endParaRPr 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8CCC33-A6E9-B232-0E2B-5111772039D5}"/>
              </a:ext>
            </a:extLst>
          </p:cNvPr>
          <p:cNvSpPr txBox="1"/>
          <p:nvPr/>
        </p:nvSpPr>
        <p:spPr>
          <a:xfrm>
            <a:off x="8569203" y="4093817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Route to POS</a:t>
            </a:r>
            <a:endParaRPr 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CF67FA-CD81-1B17-044B-93DBBF44FCF2}"/>
              </a:ext>
            </a:extLst>
          </p:cNvPr>
          <p:cNvSpPr txBox="1"/>
          <p:nvPr/>
        </p:nvSpPr>
        <p:spPr>
          <a:xfrm>
            <a:off x="5864712" y="4105862"/>
            <a:ext cx="1263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Route to 3-rd Party</a:t>
            </a:r>
            <a:endParaRPr 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EA786D-216F-F927-3C44-5EE3BCFB9023}"/>
              </a:ext>
            </a:extLst>
          </p:cNvPr>
          <p:cNvSpPr txBox="1"/>
          <p:nvPr/>
        </p:nvSpPr>
        <p:spPr>
          <a:xfrm>
            <a:off x="7710991" y="4934436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ACK POS</a:t>
            </a:r>
            <a:endParaRPr 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07B353F-1EDB-244B-F256-364E68003D56}"/>
              </a:ext>
            </a:extLst>
          </p:cNvPr>
          <p:cNvSpPr txBox="1"/>
          <p:nvPr/>
        </p:nvSpPr>
        <p:spPr>
          <a:xfrm>
            <a:off x="3084452" y="5313129"/>
            <a:ext cx="10262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ACK 3-rd Party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8A7E94-611C-F4A7-BF07-4D212A882DFC}"/>
              </a:ext>
            </a:extLst>
          </p:cNvPr>
          <p:cNvSpPr txBox="1"/>
          <p:nvPr/>
        </p:nvSpPr>
        <p:spPr>
          <a:xfrm>
            <a:off x="9152933" y="6144882"/>
            <a:ext cx="253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(Automatically played)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99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1.85185E-6 L 0.00039 0.1675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838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285E-17 3.7037E-7 L -0.00065 0.1872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44444E-6 L 0.12396 0.0009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4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7.40741E-7 L 0.09362 0.0002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85185E-6 L 0.1332 -0.00162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54" y="-9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07407E-6 L 0.11432 -0.0002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1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50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7.40741E-7 L -0.42865 0.14954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32" y="7477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-0.35416 0.1226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08" y="6134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-0.1754 0.1122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45" y="571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-0.18125 0.1092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3" y="5463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44444E-6 L -0.00313 0.12453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6227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6 L -0.00117 0.10231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500"/>
                            </p:stCondLst>
                            <p:childTnLst>
                              <p:par>
                                <p:cTn id="5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7037E-6 L 0.19622 -0.13056 " pathEditMode="relative" rAng="0" ptsTypes="AA">
                                      <p:cBhvr>
                                        <p:cTn id="57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53" y="-6574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81481E-6 L 2.08333E-7 -0.13888 " pathEditMode="relative" rAng="0" ptsTypes="AA">
                                      <p:cBhvr>
                                        <p:cTn id="59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4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3.7037E-6 L -0.00026 -0.11505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576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43268 -0.16018 " pathEditMode="relative" rAng="0" ptsTypes="AA">
                                      <p:cBhvr>
                                        <p:cTn id="63" dur="1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28" y="-8009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48148E-6 L 0.20013 -0.13171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54" y="-662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59259E-6 L 0.48333 -0.18981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60" y="-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1500"/>
                            </p:stCondLst>
                            <p:childTnLst>
                              <p:par>
                                <p:cTn id="6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-0.11068 -0.19282 " pathEditMode="relative" rAng="0" ptsTypes="AA">
                                      <p:cBhvr>
                                        <p:cTn id="70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12" y="-7731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11744 -0.19722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72" y="-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3500"/>
                            </p:stCondLst>
                            <p:childTnLst>
                              <p:par>
                                <p:cTn id="7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96296E-6 L -0.42058 -0.00579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55" y="-301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07407E-6 L -0.29701 -5.55112E-17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1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100" grpId="0" animBg="1"/>
      <p:bldP spid="101" grpId="0" animBg="1"/>
      <p:bldP spid="102" grpId="0" animBg="1"/>
      <p:bldP spid="103" grpId="0" animBg="1"/>
      <p:bldP spid="49" grpId="0" animBg="1"/>
      <p:bldP spid="56" grpId="0" animBg="1"/>
      <p:bldP spid="79" grpId="0" animBg="1"/>
      <p:bldP spid="57" grpId="0" animBg="1"/>
      <p:bldP spid="78" grpId="0" animBg="1"/>
      <p:bldP spid="69" grpId="0" animBg="1"/>
      <p:bldP spid="43" grpId="0"/>
      <p:bldP spid="45" grpId="0"/>
      <p:bldP spid="65" grpId="0"/>
      <p:bldP spid="66" grpId="0"/>
      <p:bldP spid="67" grpId="0"/>
      <p:bldP spid="68" grpId="0"/>
      <p:bldP spid="70" grpId="0"/>
      <p:bldP spid="71" grpId="0"/>
      <p:bldP spid="73" grpId="0"/>
      <p:bldP spid="7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</Words>
  <Application>Microsoft Office PowerPoint</Application>
  <PresentationFormat>Widescreen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Rexho, Ilirjan</dc:creator>
  <cp:lastModifiedBy>Rexho, Ilirjan</cp:lastModifiedBy>
  <cp:revision>2</cp:revision>
  <dcterms:created xsi:type="dcterms:W3CDTF">2025-11-06T16:57:21Z</dcterms:created>
  <dcterms:modified xsi:type="dcterms:W3CDTF">2025-11-06T18:31:53Z</dcterms:modified>
</cp:coreProperties>
</file>